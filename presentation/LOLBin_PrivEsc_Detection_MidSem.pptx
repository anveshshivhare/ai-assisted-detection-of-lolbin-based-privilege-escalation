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663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563EB"/>
                </a:solidFill>
                <a:latin typeface="Helvetica"/>
              </a:defRPr>
            </a:pPr>
            <a:r>
              <a:rPr/>
              <a:t>M.TECH CYBER SECURITY — MID-SEMESTER DISSERTATION EVALUATION</a:t>
            </a:r>
          </a:p>
          <a:p>
            <a:pPr>
              <a:spcAft>
                <a:spcPts val="1200"/>
              </a:spcAft>
              <a:defRPr sz="3200" b="1">
                <a:solidFill>
                  <a:srgbClr val="0F172A"/>
                </a:solidFill>
                <a:latin typeface="Helvetica"/>
              </a:defRPr>
            </a:pPr>
            <a:r>
              <a:rPr/>
              <a:t>AI-Assisted Detection of LOLBin-Based</a:t>
            </a:r>
            <a:br>
              <a:rPr/>
            </a:br>
            <a:r>
              <a:rPr/>
              <a:t>Privilege Escalation</a:t>
            </a:r>
          </a:p>
          <a:p>
            <a:pPr>
              <a:defRPr sz="1600" b="1">
                <a:solidFill>
                  <a:srgbClr val="1E3A8A"/>
                </a:solidFill>
                <a:latin typeface="Helvetica"/>
              </a:defRPr>
            </a:pPr>
            <a:r>
              <a:rPr/>
              <a:t>Phase 1 of 2: Generic Behavioral Detection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20440"/>
            <a:ext cx="9601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794760"/>
            <a:ext cx="466344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PRESENTER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  <a:latin typeface="Helvetica"/>
              </a:defRPr>
            </a:pPr>
            <a:r>
              <a:rPr/>
              <a:t>Anvesh Dhiraj Shivhare</a:t>
            </a:r>
            <a:br>
              <a:rPr/>
            </a:br>
            <a:r>
              <a:rPr/>
              <a:t>M.Tech Cyber Security, Semester III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94760"/>
            <a:ext cx="466344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INSTITUTION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  <a:latin typeface="Helvetica"/>
              </a:defRPr>
            </a:pPr>
            <a:r>
              <a:rPr/>
              <a:t>School of Cyber Security &amp; Digital Forensics</a:t>
            </a:r>
            <a:br>
              <a:rPr/>
            </a:br>
            <a:r>
              <a:rPr/>
              <a:t>National Forensic Sciences University, Gandhinagar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29200"/>
            <a:ext cx="466344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RESEARCH TRACK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  <a:latin typeface="Helvetica"/>
              </a:defRPr>
            </a:pPr>
            <a:r>
              <a:rPr/>
              <a:t>Defensive EDR / Host Behavioral Anomaly Detection</a:t>
            </a:r>
            <a:br>
              <a:rPr/>
            </a:br>
            <a:r>
              <a:rPr/>
              <a:t>Unsupervised Learning + Zero-Shot Explainability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029200"/>
            <a:ext cx="466344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SUBMISSION CONTEXT</a:t>
            </a:r>
          </a:p>
          <a:p>
            <a:pPr algn="l">
              <a:spcBef>
                <a:spcPts val="300"/>
              </a:spcBef>
              <a:defRPr sz="1000">
                <a:solidFill>
                  <a:srgbClr val="0F172A"/>
                </a:solidFill>
                <a:latin typeface="Helvetica"/>
              </a:defRPr>
            </a:pPr>
            <a:r>
              <a:rPr/>
              <a:t>October 2026</a:t>
            </a:r>
            <a:br>
              <a:rPr/>
            </a:br>
            <a:r>
              <a:rPr/>
              <a:t>Academic Year 2026–2027 (Mid-Semester Panel)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THREAT MODEL &amp; STRATEGIC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Problem Formulation: The Living-off-the-Land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Why legitimate dual-use administrative binaries evade signature-based AV and static EDR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1. Adversarial Abuse of Dual-Use Utilities (LOLBins / GTFOBins)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Modern threat actors avoid compiling custom malware binaries. Instead, they weaponize pre-installed, digitally signed system utilities (e.g., powershell.exe, certutil.exe, find, awk, tar, sudo) for post-exploitation and privilege escalation (PrivEsc).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07208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2. Failure of Static Signatures &amp; Crippling Rule Fatigue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Because LOLBins inherit valid OS signatures and run from trusted system paths, traditional signature-based AV is ineffective. Static EDR rules face an irreconcilable tradeoff: either trigger severe False Positive alert fatigue on routine administration or permit intrusions.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07208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22776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3. The Defensive Research Gap (Our Strategic Pivot)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Offensive AI automation (auto-exploitation, LLM payload mutation) is saturated in literature (PentestGPT, hackingBuddyGPT). Detecting subtle dual-use commands via unsupervised behavioral anomaly detection paired with zero-shot LLM explainability is an open, defensible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22776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38344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4. The Sequence Blind Spot (Isolated vs. Chained Execution)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A dual-use utility (e.g., 'whoami' or 'id') looks completely benign in isolation. Malicious intent only manifests across consecutive command transitions within an attack session, requiring sequence-aware behavioral analysis rather than isolated inspection.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38344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LITERATURE TAXONOMY (IEEE / APA CITATIONS)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Theoretical &amp; Literature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Mapping peer-reviewed foundational literature directly to each architectural design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Isolation Forest Algorithm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Liu, Ting, Zhou (IEEE ICDM 2008)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Exploits fundamental property: 'anomalies are few and different'. Isolates anomalies via random recursive partitioning without requiring labeled attack training traces.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Why Unsupervised Learning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Stamp (2022, arXiv:2208.12836)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Demonstrates severe scarcity of labeled malicious LOLBin data. Proves supervised models overfit to seen syntax and collapse when facing novel post-exploitation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72968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Anomaly Detector + LLM Pairing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Ali &amp; Kostakos (2023, HuntGPT)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Establishes architectural precedent combining statistical ML anomaly detection with zero-shot LLM explainability to translate mathematical deviations into actionable SOC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72968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LLM Grounding &amp; Hallucination Guard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Houssel et al. (2024, arXiv:2408.04342)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Defines methodology for strictly grounding LLM reasoning in empirical feature deviations and z-scores, prohibiting ungrounded external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54296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Sliding-Window Command Context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Springer (2026)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Proves empirically that evaluating a sliding window of consecutive commands significantly outperforms isolated single-command inspection on Linux endpoint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54296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Anomaly Weakness on Stealth / Obfuscation</a:t>
            </a:r>
          </a:p>
          <a:p>
            <a:pPr algn="l">
              <a:spcBef>
                <a:spcPts val="200"/>
              </a:spcBef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Anchor: Systematic Literature Review (SLR 2026)</a:t>
            </a:r>
          </a:p>
          <a:p>
            <a:pPr algn="l">
              <a:spcBef>
                <a:spcPts val="3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Exhaustive review establishing that Isolation Forest excels on overt anomalies but exhibits known degradation on stealthy/obfuscated intrusions—grounding our Tier 3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END-TO-END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System Architecture: Behavioral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End-to-end ingestion, feature representation, unsupervised scoring, and grounded LLM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1. Telemetry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AuditdTelemetrySource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Ingests raw Linux auditd streams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Correlates SYSCALL, EXECVE, PATH, CWD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Decodes hex proctitles into plaintext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Extensible adapter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19472"/>
            <a:ext cx="22860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Helvetica"/>
              </a:defRPr>
            </a:pPr>
            <a:r>
              <a:rPr/>
              <a:t>REAL DATA (auditd)</a:t>
            </a:r>
            <a:br>
              <a:rPr/>
            </a:br>
            <a:r>
              <a:rPr/>
              <a:t>&amp; Synthetic Adapter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916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2140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TelemetryFeatureExtractor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Lineage rarity (parent-child co-occurrence)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Shannon entropy &amp; special char ratio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Sensitive path touch &amp; privilege flags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Sliding Command Window (N=3)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4919472"/>
            <a:ext cx="22860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Helvetica"/>
              </a:defRPr>
            </a:pPr>
            <a:r>
              <a:rPr/>
              <a:t>Real Fitted Statistics</a:t>
            </a:r>
            <a:br>
              <a:rPr/>
            </a:br>
            <a:r>
              <a:rPr/>
              <a:t>(Zero Retraining)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916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3.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2140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Isolation Forest (Unsupervised)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150 Isolation Trees (contamination=0.025)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Trained strictly on benign baseline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Continuous standardized feature space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Calibrated decision boundary = 0.50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4919472"/>
            <a:ext cx="22860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Helvetica"/>
              </a:defRPr>
            </a:pPr>
            <a:r>
              <a:rPr/>
              <a:t>Real Auditd Baseline</a:t>
            </a:r>
            <a:br>
              <a:rPr/>
            </a:br>
            <a:r>
              <a:rPr/>
              <a:t>(25,495 Events)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4. SOC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12140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LLM Attribution &amp; Triage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Zero-shot Tier-3 SOC analyst prompt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Consumes JSON feature anomaly payload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Outputs ATT&amp;CK ID &amp; confidence score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Deterministic offline fallback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919472"/>
            <a:ext cx="2286000" cy="56692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F172A"/>
                </a:solidFill>
                <a:latin typeface="Helvetica"/>
              </a:defRPr>
            </a:pPr>
            <a:r>
              <a:rPr/>
              <a:t>Architecture Validated</a:t>
            </a:r>
            <a:br>
              <a:rPr/>
            </a:br>
            <a:r>
              <a:rPr/>
              <a:t>(No Label Leakage)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92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Data Provenance Distinction: Detection &amp; Feature Pipeline is trained and evaluated on REAL Ubuntu auditd telemetry. Multi-tier adversarial benchmarking (Tiers 1–3) was validated against synthetic lab streams</a:t>
            </a:r>
          </a:p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during architectural development.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PROJECT MILESTONES &amp; RIGOROUS SCOPING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Implementation Status: Phase 1 Scope &amp;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Transparent accounting of what is delivered and operational vs. synthetic and Phase 2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56432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01368"/>
            <a:ext cx="3236976" cy="59436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5803D"/>
                </a:solidFill>
                <a:latin typeface="Helvetica"/>
              </a:defRPr>
            </a:pPr>
            <a:r>
              <a:rPr/>
              <a:t>BUILT &amp; OPERATIONAL ON REAL DATA</a:t>
            </a:r>
          </a:p>
          <a:p>
            <a:pPr algn="ctr">
              <a:defRPr sz="800">
                <a:solidFill>
                  <a:srgbClr val="15803D"/>
                </a:solidFill>
                <a:latin typeface="Helvetica"/>
              </a:defRPr>
            </a:pPr>
            <a:r>
              <a:rPr/>
              <a:t>Phase 1 Delivered (Verified on Linux Host)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318211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Real Linux auditd ingestion parser correlating SYSCALL, EXECVE, PATH, and CWD records into unified event objects.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Fitted baseline Isolation Forest on 17,846 real events (70% of 25,495 Ubuntu dataset) with persistent joblib model bundle.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Standalone inference engine (predict.py) scoring fresh endpoint telemetry with ZERO retraining or refitting.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Real attack script executions captured and evaluated against live VM auditd logs (find, python3, tar, awk GTFOBins).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801368"/>
            <a:ext cx="3236976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45309"/>
                </a:solidFill>
                <a:latin typeface="Helvetica"/>
              </a:defRPr>
            </a:pPr>
            <a:r>
              <a:rPr/>
              <a:t>SYNTHETIC-ONLY (BENCHMARK VALIDATION)</a:t>
            </a:r>
          </a:p>
          <a:p>
            <a:pPr algn="ctr">
              <a:defRPr sz="800">
                <a:solidFill>
                  <a:srgbClr val="B45309"/>
                </a:solidFill>
                <a:latin typeface="Helvetica"/>
              </a:defRPr>
            </a:pPr>
            <a:r>
              <a:rPr/>
              <a:t>Development Architecture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487168"/>
            <a:ext cx="318211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Three-tier attack complexity matrix (Tier 1 overt, Tier 2 chained, Tier 3 obfuscated) evaluated on synthetic dataset.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Supervised vs. unsupervised generalization experiment reproducing Stamp (2022) with SMOTE comparators.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Sliding-window size ablation study across N=3, 4, 5 on synthetic multi-step sequences.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Zero-shot LLM attribution tested across synthetic scenario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91640"/>
            <a:ext cx="3456432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1801368"/>
            <a:ext cx="3236976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Helvetica"/>
              </a:defRPr>
            </a:pPr>
            <a:r>
              <a:rPr/>
              <a:t>PHASE 2 ROADMAP (DISSERTATION TA2)</a:t>
            </a:r>
          </a:p>
          <a:p>
            <a:pPr algn="ctr">
              <a:defRPr sz="800">
                <a:solidFill>
                  <a:srgbClr val="475569"/>
                </a:solidFill>
                <a:latin typeface="Helvetica"/>
              </a:defRPr>
            </a:pPr>
            <a:r>
              <a:rPr/>
              <a:t>Future Work &amp; Engineering 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487168"/>
            <a:ext cx="318211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LOLBin argument semantic embeddings &amp; AST-level parsing to eliminate blind spots on subtle syntax (e.g., awk).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Sequence transition-gradient features (binary_changed, entropy_delta) to detect low-signal reconnaissance chains.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Real-data capture for multi-step chained and obfuscated attacks executed directly inside isolated lab VMs.</a:t>
            </a:r>
          </a:p>
          <a:p>
            <a:pPr algn="l">
              <a:spcAft>
                <a:spcPts val="800"/>
              </a:spcAft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Cross-OS Windows Sysmon adapter integration (EventID 1 process creation, EventID 11 file creation).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rPr/>
              <a:t>● REAL TELEMETRY: LINUX AUDITD (UBUNTU 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Real Data Result: Baseline Validation &amp; FPR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Unsupervised Isolation Forest evaluation on 25,495 captured Linux auditd telemetry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Held-Out Baseline Score Distribution (N = 7,649)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Total Telemetry Captured: </a:t>
            </a:r>
            <a:r>
              <a:rPr b="0">
                <a:solidFill>
                  <a:srgbClr val="334155"/>
                </a:solidFill>
              </a:rPr>
              <a:t>25,495 correlated auditd events (Ubuntu)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Experimental Split: </a:t>
            </a:r>
            <a:r>
              <a:rPr b="0">
                <a:solidFill>
                  <a:srgbClr val="334155"/>
                </a:solidFill>
              </a:rPr>
              <a:t>70% Train (17,846 ev) / 30% Held-Out Test (7,649 ev)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Empirical FPR on Held-Out: </a:t>
            </a:r>
            <a:r>
              <a:rPr b="0">
                <a:solidFill>
                  <a:srgbClr val="334155"/>
                </a:solidFill>
              </a:rPr>
              <a:t>4.67% (357 false positives / 7,649 events)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Median Score (50th %ile): </a:t>
            </a:r>
            <a:r>
              <a:rPr b="0">
                <a:solidFill>
                  <a:srgbClr val="334155"/>
                </a:solidFill>
              </a:rPr>
              <a:t>0.0337 (Deep interior of benign hyperspace)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90th / 95th Percentiles: </a:t>
            </a:r>
            <a:r>
              <a:rPr b="0">
                <a:solidFill>
                  <a:srgbClr val="334155"/>
                </a:solidFill>
              </a:rPr>
              <a:t>0.2618 / 0.4564 (Safely below 0.50 threshold)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Strongly Benign Bins (&lt;0.2): </a:t>
            </a:r>
            <a:r>
              <a:rPr b="0">
                <a:solidFill>
                  <a:srgbClr val="334155"/>
                </a:solidFill>
              </a:rPr>
              <a:t>87.36% (6,682 events) score below 0.20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Sub-Threshold Normal (&lt;0.5): </a:t>
            </a:r>
            <a:r>
              <a:rPr b="0">
                <a:solidFill>
                  <a:srgbClr val="334155"/>
                </a:solidFill>
              </a:rPr>
              <a:t>95.34% of benign telemetry falls below cutoff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 Sliding Window Advantage: </a:t>
            </a:r>
            <a:r>
              <a:rPr b="0">
                <a:solidFill>
                  <a:srgbClr val="334155"/>
                </a:solidFill>
              </a:rPr>
              <a:t>FPR drops from 7.57% (isolated) to 4.67% (window)</a:t>
            </a:r>
          </a:p>
          <a:p>
            <a:pPr algn="l">
              <a:defRPr sz="850" b="1">
                <a:solidFill>
                  <a:srgbClr val="64748B"/>
                </a:solidFill>
                <a:latin typeface="Helvetica"/>
              </a:defRPr>
            </a:pPr>
            <a:br>
              <a:rPr/>
            </a:br>
            <a:r>
              <a:rPr/>
              <a:t>Per-Binary Baseline False Positive Discrimination:</a:t>
            </a:r>
            <a:br>
              <a:rPr/>
            </a:br>
            <a:r>
              <a:rPr/>
              <a:t>• find: 0.0% FPR (0/66)   |  awk: 0.0% FPR (0/381)</a:t>
            </a:r>
            <a:br>
              <a:rPr/>
            </a:br>
            <a:r>
              <a:rPr/>
              <a:t>• tar: 4.17% FPR (1/24)   |  python3: 25.39% FPR (49/193)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6_baseline_dis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7317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rPr/>
              <a:t>● REAL TELEMETRY: LIVE GTFOBIN EXECUTION AUDITD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Real Data Result: Live GTFOBin Detection &amp; Context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Standalone inference (predict.py) flags real GTFOBins and captures sliding-window elevation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Inference on Live Attack Log (data/live-attack-benign.log)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Overt GTFOBin Invocations Successfully Detected: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sudo find . -exec /bin/sh...  ➔ Anomaly Score: 0.7424 – 0.8503 (FLAGGED)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sudo python3 -c import os... ➔ Anomaly Score: 0.7007 – 0.8132 (FLAGGED)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tar --checkpoint-action=exec... ➔ Anomaly Score: 0.8036 – 0.9702 (FLAGGED)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The 'id' Command Context Experiment (Springer 2026 Validation):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Normal / Isolated Context: 'id' executed during benign baseline scores 0.0509 – 0.1287 (Events #68, #80, #85, #109 — Sub-threshold Normal).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Mid-Attack Sequence: Exactly the same 'id' command executed immediately following tar checkpoint or hex shell jumps to 0.5792 (#83) and 0.5834 (#106) — CROSSING threshold!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Concrete Proof: The sliding window correctly captures multi-step behavioral elevation rather than isolated command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7_window_contex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625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91C1C"/>
                </a:solidFill>
                <a:latin typeface="Helvetica"/>
              </a:defRPr>
            </a:pPr>
            <a:r>
              <a:rPr/>
              <a:t>■ HONEST SCIENTIFIC LIMITATION (REAL AUDITD FINDING)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Honest Limitation 1: Undetected GTFOBin (awk)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The awk-based privilege escalation technique scored strictly below 0.50 and evaded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200" b="1">
                <a:solidFill>
                  <a:srgbClr val="B91C1C"/>
                </a:solidFill>
                <a:latin typeface="Helvetica"/>
              </a:defRPr>
            </a:pPr>
            <a:r>
              <a:rPr/>
              <a:t>Concrete Empirical Finding: sudo awk BEGIN {system(...)} Was Not Detected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During live attack simulation (live-attack-benign.log, Events #57–#66), the awk-based shell spawn technique produced scores between 0.0617 and 0.4928 across all attempts. Every single invocation remained sub-threshold (&lt; 0.50 decision boundary), representing a complete false negative.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1. Benign Distribution Masking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awk appears 381 times in the held-out benign baseline.</a:t>
            </a:r>
            <a:br>
              <a:rPr/>
            </a:br>
            <a:r>
              <a:rPr/>
              <a:t>• The model established a strong prior for awk as routine administrative text processing.</a:t>
            </a:r>
            <a:br>
              <a:rPr/>
            </a:br>
            <a:r>
              <a:rPr/>
              <a:t>• Table 2C shows awk has 0.0000 FPR on benign data; the detector heavily normalizes awk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2. Feature Space Insensitivity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Syntax 'BEGIN {system(...)}' does not contain explicit exploit tokens like '-exec', 'checkpoint', or 'bypass'.</a:t>
            </a:r>
            <a:br>
              <a:rPr/>
            </a:br>
            <a:r>
              <a:rPr/>
              <a:t>• Character Shannon entropy remains moderate (~3.2–3.6), indistinguishable from complex sed/awk queries.</a:t>
            </a:r>
            <a:br>
              <a:rPr/>
            </a:br>
            <a:r>
              <a:rPr/>
              <a:t>• Token hit counter recorded 0 hits.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3. Privilege Signal Latency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auditd captured the awk process execution under sudo, but the child shell was spawned internally.</a:t>
            </a:r>
            <a:br>
              <a:rPr/>
            </a:br>
            <a:r>
              <a:rPr/>
              <a:t>• The instantaneous command did not trigger a logged UID change at the primary audit event boundary.</a:t>
            </a:r>
            <a:br>
              <a:rPr/>
            </a:br>
            <a:r>
              <a:rPr/>
              <a:t>• Generic lineage features failed to detect execution pivot.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728655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Key Academic Takeaway: Generic behavioral features struggle with syntax-subtle LOLBins. Catching awk requires semantic argument modeling and token n-gram embeddings (Phase 2), not just generic command length and entropy.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91C1C"/>
                </a:solidFill>
                <a:latin typeface="Helvetica"/>
              </a:defRPr>
            </a:pPr>
            <a:r>
              <a:rPr/>
              <a:t>■ HONEST SCIENTIFIC LIMITATION (SEQUENCE FEATURE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Honest Limitation 2: Low-Signal Reconnaissance Blind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Multi-step discovery chains evade detection when every command in the chain is individually low-signal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200" b="1">
                <a:solidFill>
                  <a:srgbClr val="B91C1C"/>
                </a:solidFill>
                <a:latin typeface="Helvetica"/>
              </a:defRPr>
            </a:pPr>
            <a:r>
              <a:rPr/>
              <a:t>Concrete Empirical Finding: whoami ➔ id ➔ hostname ➔ uname -a Chain Was Missed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In both baseline logs and live simulation, a sequence composed purely of standard discovery utilities (whoami, id, hostname, uname -a, groups, ls, pwd) produced anomaly scores strictly between 0.01 and 0.13. The sliding window failed to trigger an alert despite coherent reconnaissance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Order-Invariant Feature Aggregation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Current sliding window computes scalar aggregates: max, avg, and sum.</a:t>
            </a:r>
            <a:br>
              <a:rPr/>
            </a:br>
            <a:r>
              <a:rPr/>
              <a:t>• It lacks transition dynamics (e.g., priv_transition_delta, binary_changed, entropy_gradient).</a:t>
            </a:r>
            <a:br>
              <a:rPr/>
            </a:br>
            <a:r>
              <a:rPr/>
              <a:t>• The window treats [whoami, id, uname] identically to repeated benign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Dependence on an Overt 'Anchor' Step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Synthetic Tier 2 chains reached 100% chain interception ONLY because each chain contained at least one overt high-signal step (e.g., sudo tar checkpoint).</a:t>
            </a:r>
            <a:br>
              <a:rPr/>
            </a:br>
            <a:r>
              <a:rPr/>
              <a:t>• The overt step triggered the window; the window did not detect the subtle reconnaissance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3108960"/>
            <a:ext cx="34564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t"/>
          <a:lstStyle/>
          <a:p>
            <a:pPr algn="l"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Lack of Sequence Transition Modeling</a:t>
            </a:r>
          </a:p>
          <a:p>
            <a:pPr algn="l">
              <a:spcBef>
                <a:spcPts val="5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Isolation Forest partitions vector coordinates; it does not model Markov state transitions or temporal progression.</a:t>
            </a:r>
            <a:br>
              <a:rPr/>
            </a:br>
            <a:r>
              <a:rPr/>
              <a:t>• When all steps have 0 token hits and no privilege change, window cumulative sums remain safely below the 0.50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728655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Key Academic Takeaway: Unsupervised Isolation Forest cannot infer malicious recon intent from zero-signal commands without explicit sequence transition features (binary_changed, token_acceleration), which form our primary Phase 2 objective.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Helvetica"/>
              </a:defRPr>
            </a:pPr>
            <a:r>
              <a:rPr/>
              <a:t>▲ SYNTHETIC DATA: ARCHITECTURE VALIDATION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Synthetic Validation: Multi-Tier Sensitivity &amp;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Controlled architectural experiments conducted during development to validate theoretical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Controlled Lab Experiments (Synthetic Sysmon + Auditd)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Three Attack Complexity Tiers (SLR 2026 Validation):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Tier 1 (Overt / Isolated): Recall 100.0%, Precision 0.9901, F1 0.9950 (300 events)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Tier 2 (Chained Multi-Step): Recall 91.23%, Precision 0.9738, F1 0.9420 (285 events)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Tier 3 (Obfuscated / Stealthy): Recall 90.00%, Precision 0.9507, F1 0.9247 (150 events)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Empirical confirmation: Monotonic degradation matches SLR 2026 theorem on obfuscation limits.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Supervised Generalization Failure (Reproducing Stamp 2022):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Isolation Forest (Unsupervised): 90.80% Recall on unseen Tiers 2 &amp; 3 with ZERO attack labels in training.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Random Forest (Supervised + SMOTE): Achieves 100% on seen Tier 1, but collapses to 48.28% Recall on unseen Tiers 2 &amp; 3.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Decision Tree (Supervised + SMOTE): Collapses to 51.72% Recall on unseen Tiers 2 &amp; 3.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Scientific Validation: Proves supervised classifiers heavily overfit to seen syntax, validating our unsupervised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0_synthetic_eval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6094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ENGINEERING STACK &amp; LAB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Tools, Technology &amp; Lab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Modular, reproducible engineering stack utilizing standard open-source systems and ML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Lab Virtualization &amp; Telemetry</a:t>
            </a:r>
          </a:p>
          <a:p>
            <a:pPr algn="l"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Isolated VM Simulation Environment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Hypervisor: KVM / QEMU managed via virt-manager on Linux.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Target VM: Ubuntu Server 24.04 LTS (isolated, non-networked).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Telemetry Sensor: Linux auditd capturing SYSCALL, EXECVE, PATH, CWD.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Safe Artifacts: bash and powershell simulation scripts decoupled from 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Machine Learning &amp; Pipeline Core</a:t>
            </a:r>
          </a:p>
          <a:p>
            <a:pPr algn="l"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Unsupervised Anomaly Engine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Python 3.14 / 3.12 scientific compute environment.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scikit-learn: IsolationForest (150 estimators), StandardScaler.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imbalanced-learn: SMOTE used strictly for supervised benchmark comparisons.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joblib: Standalone pipeline bundle serialization (detector_model.joblib).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Feature Engineering &amp; Windowing</a:t>
            </a:r>
          </a:p>
          <a:p>
            <a:pPr algn="l"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Sequence Behavioral Analytics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Custom continuous Shannon entropy &amp; character dynamics calculation.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Sliding Command Window (N=3 to 5) aggregating session context.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Process lineage rarity mapping (parent-child co-occurrence frequency).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Dual-OS token dictionaries (Linux GTFOBins &amp; Windows LOLBins).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Explainability &amp; SOC Console</a:t>
            </a:r>
          </a:p>
          <a:p>
            <a:pPr algn="l"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Zero-Shot Cognitive Layer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LLM API Integration: OpenAI / Anthropic / Groq REST endpoints.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Strict Zero-Shot Prompt: Constrained to JSON feature anomalies (no hallucination).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Deterministic Offline SOC Fallback: Full testability without API keys.</a:t>
            </a:r>
          </a:p>
          <a:p>
            <a:pPr algn="l">
              <a:spcBef>
                <a:spcPts val="200"/>
              </a:spcBef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•  Streamlit Dashboard: Interactive triage console with telemetry toggle.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  <a:latin typeface="Helvetica"/>
              </a:defRPr>
            </a:pPr>
            <a:r>
              <a:rPr/>
              <a:t>◆ DISSERTATION ROADMAP (SEMESTER IV PLAN)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Research Roadmap: Transition to Phase 2 (TA2)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Evolving from generic behavioral anomaly detection to LOLBin-specific syntactic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1. LOLBin Argument Semantic Modeling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Objective: Eliminate blind spots like awk — Transition from generic command entropy to semantic token embeddings (Ongun et al. 2021) and AST argument parsing. Distinguish routine text parsing from subshell invocations (e.g., BEGIN {system()}).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07208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2. Sequence Transition-Gradient Features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Objective: Detect low-signal discovery chains — Augment the sliding window with dynamic inter-command features: binary_changed flag, token_acceleration, and session entropy gradients to catch reconnaissance chains before privilege escalation occurs.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07208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22776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3. Multi-Tier Real VM Telemetry Capture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Objective: Replace synthetic benchmark with real VM traces — Execute full Tier 2 (chained sequences) and Tier 3 (obfuscated GTFOBins) attack matrices inside isolated Ubuntu VMs, capturing 100% real auditd logs to validate production generalization.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22776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38344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4. Cross-OS Windows Sysmon Integration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Objective: Dual-OS EDR coverage — Implement a dedicated Windows Sysmon XML/JSON parser (EventID 1 process creation, EventID 11 file creation) and benchmark prevalent Windows LOLBins (certutil, powershell, mshta, rundll32).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38344"/>
            <a:ext cx="91440" cy="9875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