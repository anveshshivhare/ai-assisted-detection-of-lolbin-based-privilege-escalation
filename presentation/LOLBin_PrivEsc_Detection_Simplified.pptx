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09728" cy="4663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97280"/>
            <a:ext cx="10241280" cy="2011680"/>
          </a:xfrm>
          <a:prstGeom prst="rect">
            <a:avLst/>
          </a:prstGeom>
          <a:noFill/>
        </p:spPr>
        <p:txBody>
          <a:bodyPr wrap="square">
            <a:spAutoFit/>
          </a:bodyPr>
          <a:lstStyle/>
          <a:p>
            <a:pPr>
              <a:spcAft>
                <a:spcPts val="1000"/>
              </a:spcAft>
              <a:defRPr sz="1100" b="1">
                <a:solidFill>
                  <a:srgbClr val="2563EB"/>
                </a:solidFill>
                <a:latin typeface="Helvetica"/>
              </a:defRPr>
            </a:pPr>
            <a:r>
              <a:t>M.TECH CYBER SECURITY — MID-SEMESTER DISSERTATION EVALUATION</a:t>
            </a:r>
          </a:p>
          <a:p>
            <a:pPr>
              <a:spcAft>
                <a:spcPts val="1000"/>
              </a:spcAft>
              <a:defRPr sz="3200" b="1">
                <a:solidFill>
                  <a:srgbClr val="0F172A"/>
                </a:solidFill>
                <a:latin typeface="Helvetica"/>
              </a:defRPr>
            </a:pPr>
            <a:r>
              <a:t>AI-Assisted Detection of LOLBin-Based</a:t>
            </a:r>
            <a:br/>
            <a:r>
              <a:t>Privilege Escalation</a:t>
            </a:r>
          </a:p>
          <a:p>
            <a:pPr>
              <a:defRPr sz="1500" b="1">
                <a:solidFill>
                  <a:srgbClr val="1E3A8A"/>
                </a:solidFill>
                <a:latin typeface="Helvetica"/>
              </a:defRPr>
            </a:pPr>
            <a:r>
              <a:t>Behavioral Sequence Anomaly Detection &amp; Plain-English LLM Explainability</a:t>
            </a:r>
          </a:p>
        </p:txBody>
      </p:sp>
      <p:sp>
        <p:nvSpPr>
          <p:cNvPr id="5" name="Rectangle 4"/>
          <p:cNvSpPr/>
          <p:nvPr/>
        </p:nvSpPr>
        <p:spPr>
          <a:xfrm>
            <a:off x="1097280" y="3520440"/>
            <a:ext cx="96012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97280" y="3794760"/>
            <a:ext cx="4663440" cy="107899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lIns="182880" tIns="137160"/>
          <a:lstStyle/>
          <a:p>
            <a:pPr algn="l">
              <a:defRPr sz="850" b="1">
                <a:solidFill>
                  <a:srgbClr val="2563EB"/>
                </a:solidFill>
                <a:latin typeface="Helvetica"/>
              </a:defRPr>
            </a:pPr>
            <a:r>
              <a:t>PRESENTER</a:t>
            </a:r>
          </a:p>
          <a:p>
            <a:pPr algn="l">
              <a:spcBef>
                <a:spcPts val="300"/>
              </a:spcBef>
              <a:defRPr sz="1000">
                <a:solidFill>
                  <a:srgbClr val="0F172A"/>
                </a:solidFill>
                <a:latin typeface="Helvetica"/>
              </a:defRPr>
            </a:pPr>
            <a:r>
              <a:t>Anvesh Dhiraj Shivhare</a:t>
            </a:r>
            <a:br/>
            <a:r>
              <a:t>M.Tech Cyber Security, Semester III</a:t>
            </a:r>
          </a:p>
        </p:txBody>
      </p:sp>
      <p:sp>
        <p:nvSpPr>
          <p:cNvPr id="7" name="Rounded Rectangle 6"/>
          <p:cNvSpPr/>
          <p:nvPr/>
        </p:nvSpPr>
        <p:spPr>
          <a:xfrm>
            <a:off x="6035040" y="3794760"/>
            <a:ext cx="4663440" cy="107899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lIns="182880" tIns="137160"/>
          <a:lstStyle/>
          <a:p>
            <a:pPr algn="l">
              <a:defRPr sz="850" b="1">
                <a:solidFill>
                  <a:srgbClr val="2563EB"/>
                </a:solidFill>
                <a:latin typeface="Helvetica"/>
              </a:defRPr>
            </a:pPr>
            <a:r>
              <a:t>INSTITUTION</a:t>
            </a:r>
          </a:p>
          <a:p>
            <a:pPr algn="l">
              <a:spcBef>
                <a:spcPts val="300"/>
              </a:spcBef>
              <a:defRPr sz="1000">
                <a:solidFill>
                  <a:srgbClr val="0F172A"/>
                </a:solidFill>
                <a:latin typeface="Helvetica"/>
              </a:defRPr>
            </a:pPr>
            <a:r>
              <a:t>School of Cyber Security &amp; Digital Forensics</a:t>
            </a:r>
            <a:br/>
            <a:r>
              <a:t>National Forensic Sciences University, Gandhinagar</a:t>
            </a:r>
          </a:p>
        </p:txBody>
      </p:sp>
      <p:sp>
        <p:nvSpPr>
          <p:cNvPr id="8" name="Rounded Rectangle 7"/>
          <p:cNvSpPr/>
          <p:nvPr/>
        </p:nvSpPr>
        <p:spPr>
          <a:xfrm>
            <a:off x="1097280" y="5029200"/>
            <a:ext cx="4663440" cy="107899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lIns="182880" tIns="137160"/>
          <a:lstStyle/>
          <a:p>
            <a:pPr algn="l">
              <a:defRPr sz="850" b="1">
                <a:solidFill>
                  <a:srgbClr val="2563EB"/>
                </a:solidFill>
                <a:latin typeface="Helvetica"/>
              </a:defRPr>
            </a:pPr>
            <a:r>
              <a:t>RESEARCH FOCUS</a:t>
            </a:r>
          </a:p>
          <a:p>
            <a:pPr algn="l">
              <a:spcBef>
                <a:spcPts val="300"/>
              </a:spcBef>
              <a:defRPr sz="1000">
                <a:solidFill>
                  <a:srgbClr val="0F172A"/>
                </a:solidFill>
                <a:latin typeface="Helvetica"/>
              </a:defRPr>
            </a:pPr>
            <a:r>
              <a:t>Defensive EDR / Host Intrusion Detection</a:t>
            </a:r>
            <a:br/>
            <a:r>
              <a:t>Unsupervised Anomaly Scoring + Zero-Shot AI Triage</a:t>
            </a:r>
          </a:p>
        </p:txBody>
      </p:sp>
      <p:sp>
        <p:nvSpPr>
          <p:cNvPr id="9" name="Rounded Rectangle 8"/>
          <p:cNvSpPr/>
          <p:nvPr/>
        </p:nvSpPr>
        <p:spPr>
          <a:xfrm>
            <a:off x="6035040" y="5029200"/>
            <a:ext cx="4663440" cy="107899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lIns="182880" tIns="137160"/>
          <a:lstStyle/>
          <a:p>
            <a:pPr algn="l">
              <a:defRPr sz="850" b="1">
                <a:solidFill>
                  <a:srgbClr val="2563EB"/>
                </a:solidFill>
                <a:latin typeface="Helvetica"/>
              </a:defRPr>
            </a:pPr>
            <a:r>
              <a:t>EVALUATION CONTEXT</a:t>
            </a:r>
          </a:p>
          <a:p>
            <a:pPr algn="l">
              <a:spcBef>
                <a:spcPts val="300"/>
              </a:spcBef>
              <a:defRPr sz="1000">
                <a:solidFill>
                  <a:srgbClr val="0F172A"/>
                </a:solidFill>
                <a:latin typeface="Helvetica"/>
              </a:defRPr>
            </a:pPr>
            <a:r>
              <a:t>October 2026</a:t>
            </a:r>
            <a:br/>
            <a:r>
              <a:t>Mid-Semester Dissertation Review</a:t>
            </a:r>
          </a:p>
        </p:txBody>
      </p:sp>
      <p:sp>
        <p:nvSpPr>
          <p:cNvPr id="10" name="Rectangle 9"/>
          <p:cNvSpPr/>
          <p:nvPr/>
        </p:nvSpPr>
        <p:spPr>
          <a:xfrm>
            <a:off x="0" y="0"/>
            <a:ext cx="12191695"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46520"/>
            <a:ext cx="8229600" cy="320040"/>
          </a:xfrm>
          <a:prstGeom prst="rect">
            <a:avLst/>
          </a:prstGeom>
          <a:noFill/>
        </p:spPr>
        <p:txBody>
          <a:bodyPr wrap="square">
            <a:spAutoFit/>
          </a:bodyPr>
          <a:lstStyle/>
          <a:p>
            <a:pPr>
              <a:defRPr sz="900">
                <a:solidFill>
                  <a:srgbClr val="64748B"/>
                </a:solidFill>
                <a:latin typeface="Helvetica"/>
              </a:defRPr>
            </a:pPr>
            <a:r>
              <a:t>AI-Assisted Detection of LOLBin-Based Privilege Escalation | NFSU M.Tech Cyber Security</a:t>
            </a:r>
          </a:p>
        </p:txBody>
      </p:sp>
      <p:sp>
        <p:nvSpPr>
          <p:cNvPr id="13" name="TextBox 12"/>
          <p:cNvSpPr txBox="1"/>
          <p:nvPr/>
        </p:nvSpPr>
        <p:spPr>
          <a:xfrm>
            <a:off x="9601200" y="6446520"/>
            <a:ext cx="1828800" cy="320040"/>
          </a:xfrm>
          <a:prstGeom prst="rect">
            <a:avLst/>
          </a:prstGeom>
          <a:noFill/>
        </p:spPr>
        <p:txBody>
          <a:bodyPr wrap="none">
            <a:spAutoFit/>
          </a:bodyPr>
          <a:lstStyle/>
          <a:p>
            <a:pPr algn="r">
              <a:defRPr sz="900" b="1">
                <a:solidFill>
                  <a:srgbClr val="64748B"/>
                </a:solidFill>
                <a:latin typeface="Helvetica"/>
              </a:defRPr>
            </a:pPr>
            <a:r>
              <a:t>Slide 1 of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84048"/>
            <a:ext cx="3840480" cy="292608"/>
          </a:xfrm>
          <a:prstGeom prst="roundRect">
            <a:avLst/>
          </a:prstGeom>
          <a:solidFill>
            <a:srgbClr val="FEF2F2"/>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B91C1C"/>
                </a:solidFill>
                <a:latin typeface="Helvetica"/>
              </a:defRPr>
            </a:pPr>
            <a:r>
              <a:t>■ THE THREAT LANDSCAPE</a:t>
            </a:r>
          </a:p>
        </p:txBody>
      </p:sp>
      <p:sp>
        <p:nvSpPr>
          <p:cNvPr id="3" name="TextBox 2"/>
          <p:cNvSpPr txBox="1"/>
          <p:nvPr/>
        </p:nvSpPr>
        <p:spPr>
          <a:xfrm>
            <a:off x="731520" y="731520"/>
            <a:ext cx="10728655" cy="502920"/>
          </a:xfrm>
          <a:prstGeom prst="rect">
            <a:avLst/>
          </a:prstGeom>
          <a:noFill/>
        </p:spPr>
        <p:txBody>
          <a:bodyPr wrap="square">
            <a:spAutoFit/>
          </a:bodyPr>
          <a:lstStyle/>
          <a:p>
            <a:pPr>
              <a:defRPr sz="2200" b="1">
                <a:solidFill>
                  <a:srgbClr val="0F172A"/>
                </a:solidFill>
                <a:latin typeface="Helvetica"/>
              </a:defRPr>
            </a:pPr>
            <a:r>
              <a:t>The Threat: Hackers Hiding Behind Legitimate Tools</a:t>
            </a:r>
          </a:p>
        </p:txBody>
      </p:sp>
      <p:sp>
        <p:nvSpPr>
          <p:cNvPr id="4" name="TextBox 3"/>
          <p:cNvSpPr txBox="1"/>
          <p:nvPr/>
        </p:nvSpPr>
        <p:spPr>
          <a:xfrm>
            <a:off x="731520" y="1234440"/>
            <a:ext cx="10728655" cy="320040"/>
          </a:xfrm>
          <a:prstGeom prst="rect">
            <a:avLst/>
          </a:prstGeom>
          <a:noFill/>
        </p:spPr>
        <p:txBody>
          <a:bodyPr wrap="square">
            <a:spAutoFit/>
          </a:bodyPr>
          <a:lstStyle/>
          <a:p>
            <a:pPr>
              <a:defRPr sz="1100">
                <a:solidFill>
                  <a:srgbClr val="64748B"/>
                </a:solidFill>
                <a:latin typeface="Helvetica"/>
              </a:defRPr>
            </a:pPr>
            <a:r>
              <a:t>Living-off-the-Land (LOLBins) weaponizes trusted system tools to bypass traditional antivirus</a:t>
            </a:r>
          </a:p>
        </p:txBody>
      </p:sp>
      <p:sp>
        <p:nvSpPr>
          <p:cNvPr id="5" name="Rounded Rectangle 4"/>
          <p:cNvSpPr/>
          <p:nvPr/>
        </p:nvSpPr>
        <p:spPr>
          <a:xfrm>
            <a:off x="731520" y="1691640"/>
            <a:ext cx="10728655" cy="9875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lIns="228600" tIns="109728"/>
          <a:lstStyle/>
          <a:p>
            <a:pPr algn="l">
              <a:defRPr sz="1150" b="1">
                <a:solidFill>
                  <a:srgbClr val="0F172A"/>
                </a:solidFill>
                <a:latin typeface="Helvetica"/>
              </a:defRPr>
            </a:pPr>
            <a:r>
              <a:t>1. Attackers Don't Drop Malware Anymore (Living-off-the-Land)</a:t>
            </a:r>
          </a:p>
          <a:p>
            <a:pPr algn="l">
              <a:spcBef>
                <a:spcPts val="300"/>
              </a:spcBef>
              <a:defRPr sz="950">
                <a:solidFill>
                  <a:srgbClr val="334155"/>
                </a:solidFill>
                <a:latin typeface="Helvetica"/>
              </a:defRPr>
            </a:pPr>
            <a:r>
              <a:t>Instead of writing custom virus files that antivirus scanners easily flag, modern attackers use built-in system tools like 'find', 'awk', 'tar', and 'python3'. Because these tools are legitimate and digitally signed by the OS, they are trusted by default.</a:t>
            </a:r>
          </a:p>
        </p:txBody>
      </p:sp>
      <p:sp>
        <p:nvSpPr>
          <p:cNvPr id="6" name="Rectangle 5"/>
          <p:cNvSpPr/>
          <p:nvPr/>
        </p:nvSpPr>
        <p:spPr>
          <a:xfrm>
            <a:off x="731520" y="1691640"/>
            <a:ext cx="91440" cy="9875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2807208"/>
            <a:ext cx="10728655" cy="9875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lIns="228600" tIns="109728"/>
          <a:lstStyle/>
          <a:p>
            <a:pPr algn="l">
              <a:defRPr sz="1150" b="1">
                <a:solidFill>
                  <a:srgbClr val="0F172A"/>
                </a:solidFill>
                <a:latin typeface="Helvetica"/>
              </a:defRPr>
            </a:pPr>
            <a:r>
              <a:t>2. Privilege Escalation (PrivEsc): Turning Normal Access into Root</a:t>
            </a:r>
          </a:p>
          <a:p>
            <a:pPr algn="l">
              <a:spcBef>
                <a:spcPts val="300"/>
              </a:spcBef>
              <a:defRPr sz="950">
                <a:solidFill>
                  <a:srgbClr val="334155"/>
                </a:solidFill>
                <a:latin typeface="Helvetica"/>
              </a:defRPr>
            </a:pPr>
            <a:r>
              <a:t>Once an attacker enters a system as a normal user, they abuse misconfigured permissions on these trusted tools to silently gain 'root' (administrator) privileges. For example, running 'sudo find . -exec /bin/sh' turns a standard search tool into an instant root shell.</a:t>
            </a:r>
          </a:p>
        </p:txBody>
      </p:sp>
      <p:sp>
        <p:nvSpPr>
          <p:cNvPr id="8" name="Rectangle 7"/>
          <p:cNvSpPr/>
          <p:nvPr/>
        </p:nvSpPr>
        <p:spPr>
          <a:xfrm>
            <a:off x="731520" y="2807208"/>
            <a:ext cx="91440" cy="9875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3922776"/>
            <a:ext cx="10728655" cy="9875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lIns="228600" tIns="109728"/>
          <a:lstStyle/>
          <a:p>
            <a:pPr algn="l">
              <a:defRPr sz="1150" b="1">
                <a:solidFill>
                  <a:srgbClr val="0F172A"/>
                </a:solidFill>
                <a:latin typeface="Helvetica"/>
              </a:defRPr>
            </a:pPr>
            <a:r>
              <a:t>3. Traditional Antivirus and EDR Are Completely Blind</a:t>
            </a:r>
          </a:p>
          <a:p>
            <a:pPr algn="l">
              <a:spcBef>
                <a:spcPts val="300"/>
              </a:spcBef>
              <a:defRPr sz="950">
                <a:solidFill>
                  <a:srgbClr val="334155"/>
                </a:solidFill>
                <a:latin typeface="Helvetica"/>
              </a:defRPr>
            </a:pPr>
            <a:r>
              <a:t>Traditional security tools look for malicious signatures or known bad files. But here, the file running is an official Linux or Windows program. Writing hardcoded rules to block 'find' or 'python' creates endless false alarms because system administrators use them daily.</a:t>
            </a:r>
          </a:p>
        </p:txBody>
      </p:sp>
      <p:sp>
        <p:nvSpPr>
          <p:cNvPr id="10" name="Rectangle 9"/>
          <p:cNvSpPr/>
          <p:nvPr/>
        </p:nvSpPr>
        <p:spPr>
          <a:xfrm>
            <a:off x="731520" y="3922776"/>
            <a:ext cx="91440" cy="9875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5038344"/>
            <a:ext cx="10728655" cy="9875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lIns="228600" tIns="109728"/>
          <a:lstStyle/>
          <a:p>
            <a:pPr algn="l">
              <a:defRPr sz="1150" b="1">
                <a:solidFill>
                  <a:srgbClr val="0F172A"/>
                </a:solidFill>
                <a:latin typeface="Helvetica"/>
              </a:defRPr>
            </a:pPr>
            <a:r>
              <a:t>4. Isolated Commands Look Harmless</a:t>
            </a:r>
          </a:p>
          <a:p>
            <a:pPr algn="l">
              <a:spcBef>
                <a:spcPts val="300"/>
              </a:spcBef>
              <a:defRPr sz="950">
                <a:solidFill>
                  <a:srgbClr val="334155"/>
                </a:solidFill>
                <a:latin typeface="Helvetica"/>
              </a:defRPr>
            </a:pPr>
            <a:r>
              <a:t>Looking at a single command like 'id' or 'whoami' in isolation tells you nothing—it looks 100% benign. A true attack only becomes obvious when you observe what was executed right before and right after.</a:t>
            </a:r>
          </a:p>
        </p:txBody>
      </p:sp>
      <p:sp>
        <p:nvSpPr>
          <p:cNvPr id="12" name="Rectangle 11"/>
          <p:cNvSpPr/>
          <p:nvPr/>
        </p:nvSpPr>
        <p:spPr>
          <a:xfrm>
            <a:off x="731520" y="5038344"/>
            <a:ext cx="91440" cy="9875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0"/>
            <a:ext cx="12191695"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446520"/>
            <a:ext cx="8229600" cy="320040"/>
          </a:xfrm>
          <a:prstGeom prst="rect">
            <a:avLst/>
          </a:prstGeom>
          <a:noFill/>
        </p:spPr>
        <p:txBody>
          <a:bodyPr wrap="square">
            <a:spAutoFit/>
          </a:bodyPr>
          <a:lstStyle/>
          <a:p>
            <a:pPr>
              <a:defRPr sz="900">
                <a:solidFill>
                  <a:srgbClr val="64748B"/>
                </a:solidFill>
                <a:latin typeface="Helvetica"/>
              </a:defRPr>
            </a:pPr>
            <a:r>
              <a:t>AI-Assisted Detection of LOLBin-Based Privilege Escalation | NFSU M.Tech Cyber Security</a:t>
            </a:r>
          </a:p>
        </p:txBody>
      </p:sp>
      <p:sp>
        <p:nvSpPr>
          <p:cNvPr id="16" name="TextBox 15"/>
          <p:cNvSpPr txBox="1"/>
          <p:nvPr/>
        </p:nvSpPr>
        <p:spPr>
          <a:xfrm>
            <a:off x="9601200" y="6446520"/>
            <a:ext cx="1828800" cy="320040"/>
          </a:xfrm>
          <a:prstGeom prst="rect">
            <a:avLst/>
          </a:prstGeom>
          <a:noFill/>
        </p:spPr>
        <p:txBody>
          <a:bodyPr wrap="none">
            <a:spAutoFit/>
          </a:bodyPr>
          <a:lstStyle/>
          <a:p>
            <a:pPr algn="r">
              <a:defRPr sz="900" b="1">
                <a:solidFill>
                  <a:srgbClr val="64748B"/>
                </a:solidFill>
                <a:latin typeface="Helvetica"/>
              </a:defRPr>
            </a:pPr>
            <a:r>
              <a:t>Slide 2 of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84048"/>
            <a:ext cx="3840480" cy="292608"/>
          </a:xfrm>
          <a:prstGeom prst="roundRect">
            <a:avLst/>
          </a:prstGeom>
          <a:solidFill>
            <a:srgbClr val="EFF6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1D4ED8"/>
                </a:solidFill>
                <a:latin typeface="Helvetica"/>
              </a:defRPr>
            </a:pPr>
            <a:r>
              <a:t>● OUR CORE DETECTION APPROACH</a:t>
            </a:r>
          </a:p>
        </p:txBody>
      </p:sp>
      <p:sp>
        <p:nvSpPr>
          <p:cNvPr id="3" name="TextBox 2"/>
          <p:cNvSpPr txBox="1"/>
          <p:nvPr/>
        </p:nvSpPr>
        <p:spPr>
          <a:xfrm>
            <a:off x="731520" y="731520"/>
            <a:ext cx="10728655" cy="502920"/>
          </a:xfrm>
          <a:prstGeom prst="rect">
            <a:avLst/>
          </a:prstGeom>
          <a:noFill/>
        </p:spPr>
        <p:txBody>
          <a:bodyPr wrap="square">
            <a:spAutoFit/>
          </a:bodyPr>
          <a:lstStyle/>
          <a:p>
            <a:pPr>
              <a:defRPr sz="2200" b="1">
                <a:solidFill>
                  <a:srgbClr val="0F172A"/>
                </a:solidFill>
                <a:latin typeface="Helvetica"/>
              </a:defRPr>
            </a:pPr>
            <a:r>
              <a:t>The Solution: Catching Sequences with a Sliding Window</a:t>
            </a:r>
          </a:p>
        </p:txBody>
      </p:sp>
      <p:sp>
        <p:nvSpPr>
          <p:cNvPr id="4" name="TextBox 3"/>
          <p:cNvSpPr txBox="1"/>
          <p:nvPr/>
        </p:nvSpPr>
        <p:spPr>
          <a:xfrm>
            <a:off x="731520" y="1234440"/>
            <a:ext cx="10728655" cy="320040"/>
          </a:xfrm>
          <a:prstGeom prst="rect">
            <a:avLst/>
          </a:prstGeom>
          <a:noFill/>
        </p:spPr>
        <p:txBody>
          <a:bodyPr wrap="square">
            <a:spAutoFit/>
          </a:bodyPr>
          <a:lstStyle/>
          <a:p>
            <a:pPr>
              <a:defRPr sz="1100">
                <a:solidFill>
                  <a:srgbClr val="64748B"/>
                </a:solidFill>
                <a:latin typeface="Helvetica"/>
              </a:defRPr>
            </a:pPr>
            <a:r>
              <a:t>Evaluating a window of 3 consecutive commands captures attack context that isolated commands miss</a:t>
            </a:r>
          </a:p>
        </p:txBody>
      </p:sp>
      <p:sp>
        <p:nvSpPr>
          <p:cNvPr id="5" name="Rounded Rectangle 4"/>
          <p:cNvSpPr/>
          <p:nvPr/>
        </p:nvSpPr>
        <p:spPr>
          <a:xfrm>
            <a:off x="731520" y="1691640"/>
            <a:ext cx="3456432" cy="4434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91640"/>
            <a:ext cx="3456432" cy="43891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Helvetica"/>
              </a:defRPr>
            </a:pPr>
            <a:r>
              <a:t>1. Attacks Happen in Multi-Step Chains</a:t>
            </a:r>
          </a:p>
        </p:txBody>
      </p:sp>
      <p:sp>
        <p:nvSpPr>
          <p:cNvPr id="7" name="TextBox 6"/>
          <p:cNvSpPr txBox="1"/>
          <p:nvPr/>
        </p:nvSpPr>
        <p:spPr>
          <a:xfrm>
            <a:off x="896112" y="2240280"/>
            <a:ext cx="3127248" cy="3749039"/>
          </a:xfrm>
          <a:prstGeom prst="rect">
            <a:avLst/>
          </a:prstGeom>
          <a:noFill/>
        </p:spPr>
        <p:txBody>
          <a:bodyPr wrap="square">
            <a:spAutoFit/>
          </a:bodyPr>
          <a:lstStyle/>
          <a:p>
            <a:pPr algn="l">
              <a:defRPr sz="950">
                <a:solidFill>
                  <a:srgbClr val="334155"/>
                </a:solidFill>
                <a:latin typeface="Helvetica"/>
              </a:defRPr>
            </a:pPr>
            <a:r>
              <a:t>An attacker never executes an exploit in a vacuum. Privilege escalation always follows a logical sequence:</a:t>
            </a:r>
            <a:br/>
            <a:br/>
            <a:r>
              <a:t>• Step 1: whoami  (Reconnaissance)</a:t>
            </a:r>
            <a:br/>
            <a:r>
              <a:t>• Step 2: sudo -l  (Check Permissions)</a:t>
            </a:r>
            <a:br/>
            <a:r>
              <a:t>• Step 3: sudo find -exec  (Exploit Execution)</a:t>
            </a:r>
            <a:br/>
            <a:r>
              <a:t>• Step 4: id  (Confirm Root Privilege)</a:t>
            </a:r>
            <a:br/>
            <a:br/>
            <a:r>
              <a:t>Single-command detectors treat each step as isolated; our approach tracks the full sequence.</a:t>
            </a:r>
          </a:p>
        </p:txBody>
      </p:sp>
      <p:sp>
        <p:nvSpPr>
          <p:cNvPr id="8" name="Rounded Rectangle 7"/>
          <p:cNvSpPr/>
          <p:nvPr/>
        </p:nvSpPr>
        <p:spPr>
          <a:xfrm>
            <a:off x="4370832" y="1691640"/>
            <a:ext cx="3456432" cy="4434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70832" y="1691640"/>
            <a:ext cx="3456432" cy="43891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Helvetica"/>
              </a:defRPr>
            </a:pPr>
            <a:r>
              <a:t>2. Context Changes Everything ('id' Experiment)</a:t>
            </a:r>
          </a:p>
        </p:txBody>
      </p:sp>
      <p:sp>
        <p:nvSpPr>
          <p:cNvPr id="10" name="TextBox 9"/>
          <p:cNvSpPr txBox="1"/>
          <p:nvPr/>
        </p:nvSpPr>
        <p:spPr>
          <a:xfrm>
            <a:off x="4535424" y="2240280"/>
            <a:ext cx="3127248" cy="3749039"/>
          </a:xfrm>
          <a:prstGeom prst="rect">
            <a:avLst/>
          </a:prstGeom>
          <a:noFill/>
        </p:spPr>
        <p:txBody>
          <a:bodyPr wrap="square">
            <a:spAutoFit/>
          </a:bodyPr>
          <a:lstStyle/>
          <a:p>
            <a:pPr algn="l">
              <a:defRPr sz="950">
                <a:solidFill>
                  <a:srgbClr val="334155"/>
                </a:solidFill>
                <a:latin typeface="Helvetica"/>
              </a:defRPr>
            </a:pPr>
            <a:r>
              <a:t>The exact same command looks innocent or dangerous depending on its immediate neighbors:</a:t>
            </a:r>
            <a:br/>
            <a:br/>
            <a:r>
              <a:t>• In Normal Admin Work: The 'id' command scores 0.05 to 0.12 (Completely Safe &amp; Ignored).</a:t>
            </a:r>
            <a:br/>
            <a:r>
              <a:t>• Mid-Attack Sequence: Exactly the same 'id' command executed right after a shell escape jumps to 0.58, crossing our alarm threshold!</a:t>
            </a:r>
            <a:br/>
            <a:br/>
            <a:r>
              <a:t>This proves sequence context detects attacks without needing custom signatures.</a:t>
            </a:r>
          </a:p>
        </p:txBody>
      </p:sp>
      <p:sp>
        <p:nvSpPr>
          <p:cNvPr id="11" name="Rounded Rectangle 10"/>
          <p:cNvSpPr/>
          <p:nvPr/>
        </p:nvSpPr>
        <p:spPr>
          <a:xfrm>
            <a:off x="8010144" y="1691640"/>
            <a:ext cx="3456432" cy="4434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10144" y="1691640"/>
            <a:ext cx="3456432" cy="43891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Helvetica"/>
              </a:defRPr>
            </a:pPr>
            <a:r>
              <a:t>3. Massive Reduction in False Alarms</a:t>
            </a:r>
          </a:p>
        </p:txBody>
      </p:sp>
      <p:sp>
        <p:nvSpPr>
          <p:cNvPr id="13" name="TextBox 12"/>
          <p:cNvSpPr txBox="1"/>
          <p:nvPr/>
        </p:nvSpPr>
        <p:spPr>
          <a:xfrm>
            <a:off x="8174736" y="2240280"/>
            <a:ext cx="3127248" cy="3749039"/>
          </a:xfrm>
          <a:prstGeom prst="rect">
            <a:avLst/>
          </a:prstGeom>
          <a:noFill/>
        </p:spPr>
        <p:txBody>
          <a:bodyPr wrap="square">
            <a:spAutoFit/>
          </a:bodyPr>
          <a:lstStyle/>
          <a:p>
            <a:pPr algn="l">
              <a:defRPr sz="950">
                <a:solidFill>
                  <a:srgbClr val="334155"/>
                </a:solidFill>
                <a:latin typeface="Helvetica"/>
              </a:defRPr>
            </a:pPr>
            <a:r>
              <a:t>Detecting on isolated commands causes high false alarms because innocent sysadmin tasks use the same tools:</a:t>
            </a:r>
            <a:br/>
            <a:br/>
            <a:r>
              <a:t>• Single Isolated Commands: False Positive Rate of 7.57% (579 false alarms).</a:t>
            </a:r>
            <a:br/>
            <a:r>
              <a:t>• Sliding Window (N=3): False Positive Rate drops to 4.67% (357 false alarms).</a:t>
            </a:r>
            <a:br/>
            <a:br/>
            <a:r>
              <a:t>Adding sequence history delivers a 38% reduction in false alarms while catching 100% of attack chains.</a:t>
            </a:r>
          </a:p>
        </p:txBody>
      </p:sp>
      <p:sp>
        <p:nvSpPr>
          <p:cNvPr id="14" name="Rectangle 13"/>
          <p:cNvSpPr/>
          <p:nvPr/>
        </p:nvSpPr>
        <p:spPr>
          <a:xfrm>
            <a:off x="0" y="0"/>
            <a:ext cx="12191695"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46520"/>
            <a:ext cx="8229600" cy="320040"/>
          </a:xfrm>
          <a:prstGeom prst="rect">
            <a:avLst/>
          </a:prstGeom>
          <a:noFill/>
        </p:spPr>
        <p:txBody>
          <a:bodyPr wrap="square">
            <a:spAutoFit/>
          </a:bodyPr>
          <a:lstStyle/>
          <a:p>
            <a:pPr>
              <a:defRPr sz="900">
                <a:solidFill>
                  <a:srgbClr val="64748B"/>
                </a:solidFill>
                <a:latin typeface="Helvetica"/>
              </a:defRPr>
            </a:pPr>
            <a:r>
              <a:t>AI-Assisted Detection of LOLBin-Based Privilege Escalation | NFSU M.Tech Cyber Security</a:t>
            </a:r>
          </a:p>
        </p:txBody>
      </p:sp>
      <p:sp>
        <p:nvSpPr>
          <p:cNvPr id="17" name="TextBox 16"/>
          <p:cNvSpPr txBox="1"/>
          <p:nvPr/>
        </p:nvSpPr>
        <p:spPr>
          <a:xfrm>
            <a:off x="9601200" y="6446520"/>
            <a:ext cx="1828800" cy="320040"/>
          </a:xfrm>
          <a:prstGeom prst="rect">
            <a:avLst/>
          </a:prstGeom>
          <a:noFill/>
        </p:spPr>
        <p:txBody>
          <a:bodyPr wrap="none">
            <a:spAutoFit/>
          </a:bodyPr>
          <a:lstStyle/>
          <a:p>
            <a:pPr algn="r">
              <a:defRPr sz="900" b="1">
                <a:solidFill>
                  <a:srgbClr val="64748B"/>
                </a:solidFill>
                <a:latin typeface="Helvetica"/>
              </a:defRPr>
            </a:pPr>
            <a:r>
              <a:t>Slide 3 of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84048"/>
            <a:ext cx="3840480" cy="292608"/>
          </a:xfrm>
          <a:prstGeom prst="roundRect">
            <a:avLst/>
          </a:prstGeom>
          <a:solidFill>
            <a:srgbClr val="F8FAFC"/>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334155"/>
                </a:solidFill>
                <a:latin typeface="Helvetica"/>
              </a:defRPr>
            </a:pPr>
            <a:r>
              <a:t>◆ UNIFIED PIPELINE ARCHITECTURE</a:t>
            </a:r>
          </a:p>
        </p:txBody>
      </p:sp>
      <p:sp>
        <p:nvSpPr>
          <p:cNvPr id="3" name="TextBox 2"/>
          <p:cNvSpPr txBox="1"/>
          <p:nvPr/>
        </p:nvSpPr>
        <p:spPr>
          <a:xfrm>
            <a:off x="731520" y="731520"/>
            <a:ext cx="10728655" cy="502920"/>
          </a:xfrm>
          <a:prstGeom prst="rect">
            <a:avLst/>
          </a:prstGeom>
          <a:noFill/>
        </p:spPr>
        <p:txBody>
          <a:bodyPr wrap="square">
            <a:spAutoFit/>
          </a:bodyPr>
          <a:lstStyle/>
          <a:p>
            <a:pPr>
              <a:defRPr sz="2200" b="1">
                <a:solidFill>
                  <a:srgbClr val="0F172A"/>
                </a:solidFill>
                <a:latin typeface="Helvetica"/>
              </a:defRPr>
            </a:pPr>
            <a:r>
              <a:t>System Architecture: Unified Detection Pipeline</a:t>
            </a:r>
          </a:p>
        </p:txBody>
      </p:sp>
      <p:sp>
        <p:nvSpPr>
          <p:cNvPr id="4" name="TextBox 3"/>
          <p:cNvSpPr txBox="1"/>
          <p:nvPr/>
        </p:nvSpPr>
        <p:spPr>
          <a:xfrm>
            <a:off x="731520" y="1234440"/>
            <a:ext cx="10728655" cy="320040"/>
          </a:xfrm>
          <a:prstGeom prst="rect">
            <a:avLst/>
          </a:prstGeom>
          <a:noFill/>
        </p:spPr>
        <p:txBody>
          <a:bodyPr wrap="square">
            <a:spAutoFit/>
          </a:bodyPr>
          <a:lstStyle/>
          <a:p>
            <a:pPr>
              <a:defRPr sz="1100">
                <a:solidFill>
                  <a:srgbClr val="64748B"/>
                </a:solidFill>
                <a:latin typeface="Helvetica"/>
              </a:defRPr>
            </a:pPr>
            <a:r>
              <a:t>End-to-end ingestion, feature analysis, unsupervised anomaly scoring, and plain-English SOC triage</a:t>
            </a:r>
          </a:p>
        </p:txBody>
      </p:sp>
      <p:sp>
        <p:nvSpPr>
          <p:cNvPr id="5" name="Rounded Rectangle 4"/>
          <p:cNvSpPr/>
          <p:nvPr/>
        </p:nvSpPr>
        <p:spPr>
          <a:xfrm>
            <a:off x="731520" y="1691640"/>
            <a:ext cx="2560320" cy="39776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91640"/>
            <a:ext cx="2560320" cy="38404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Helvetica"/>
              </a:defRPr>
            </a:pPr>
            <a:r>
              <a:t>1. Telemetry Ingestion</a:t>
            </a:r>
          </a:p>
        </p:txBody>
      </p:sp>
      <p:sp>
        <p:nvSpPr>
          <p:cNvPr id="7" name="TextBox 6"/>
          <p:cNvSpPr txBox="1"/>
          <p:nvPr/>
        </p:nvSpPr>
        <p:spPr>
          <a:xfrm>
            <a:off x="841248" y="2121408"/>
            <a:ext cx="2340864" cy="2514600"/>
          </a:xfrm>
          <a:prstGeom prst="rect">
            <a:avLst/>
          </a:prstGeom>
          <a:noFill/>
        </p:spPr>
        <p:txBody>
          <a:bodyPr wrap="square">
            <a:spAutoFit/>
          </a:bodyPr>
          <a:lstStyle/>
          <a:p>
            <a:pPr>
              <a:defRPr sz="950" b="1">
                <a:solidFill>
                  <a:srgbClr val="2563EB"/>
                </a:solidFill>
                <a:latin typeface="Helvetica"/>
              </a:defRPr>
            </a:pPr>
            <a:r>
              <a:t>Linux auditd Sensor</a:t>
            </a:r>
          </a:p>
          <a:p>
            <a:pPr>
              <a:spcBef>
                <a:spcPts val="400"/>
              </a:spcBef>
              <a:defRPr sz="850">
                <a:solidFill>
                  <a:srgbClr val="334155"/>
                </a:solidFill>
                <a:latin typeface="Helvetica"/>
              </a:defRPr>
            </a:pPr>
            <a:r>
              <a:t>• Collects real execution logs directly from the OS kernel.</a:t>
            </a:r>
          </a:p>
          <a:p>
            <a:pPr>
              <a:spcBef>
                <a:spcPts val="400"/>
              </a:spcBef>
              <a:defRPr sz="850">
                <a:solidFill>
                  <a:srgbClr val="334155"/>
                </a:solidFill>
                <a:latin typeface="Helvetica"/>
              </a:defRPr>
            </a:pPr>
            <a:r>
              <a:t>• Captures process commands, parent-child relationships, and User IDs.</a:t>
            </a:r>
          </a:p>
          <a:p>
            <a:pPr>
              <a:spcBef>
                <a:spcPts val="400"/>
              </a:spcBef>
              <a:defRPr sz="850">
                <a:solidFill>
                  <a:srgbClr val="334155"/>
                </a:solidFill>
                <a:latin typeface="Helvetica"/>
              </a:defRPr>
            </a:pPr>
            <a:r>
              <a:t>• Decodes command lines into readable text.</a:t>
            </a:r>
          </a:p>
          <a:p>
            <a:pPr>
              <a:spcBef>
                <a:spcPts val="400"/>
              </a:spcBef>
              <a:defRPr sz="850">
                <a:solidFill>
                  <a:srgbClr val="334155"/>
                </a:solidFill>
                <a:latin typeface="Helvetica"/>
              </a:defRPr>
            </a:pPr>
            <a:r>
              <a:t>• Built to run directly on Linux endpoints.</a:t>
            </a:r>
          </a:p>
        </p:txBody>
      </p:sp>
      <p:sp>
        <p:nvSpPr>
          <p:cNvPr id="8" name="Rounded Rectangle 7"/>
          <p:cNvSpPr/>
          <p:nvPr/>
        </p:nvSpPr>
        <p:spPr>
          <a:xfrm>
            <a:off x="868680" y="4956048"/>
            <a:ext cx="2286000" cy="54864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F172A"/>
                </a:solidFill>
                <a:latin typeface="Helvetica"/>
              </a:defRPr>
            </a:pPr>
            <a:r>
              <a:t>Live OS Telemetry</a:t>
            </a:r>
          </a:p>
        </p:txBody>
      </p:sp>
      <p:sp>
        <p:nvSpPr>
          <p:cNvPr id="9" name="Rounded Rectangle 8"/>
          <p:cNvSpPr/>
          <p:nvPr/>
        </p:nvSpPr>
        <p:spPr>
          <a:xfrm>
            <a:off x="3456432" y="1691640"/>
            <a:ext cx="2560320" cy="39776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56432" y="1691640"/>
            <a:ext cx="2560320" cy="38404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Helvetica"/>
              </a:defRPr>
            </a:pPr>
            <a:r>
              <a:t>2. Sliding Window Features</a:t>
            </a:r>
          </a:p>
        </p:txBody>
      </p:sp>
      <p:sp>
        <p:nvSpPr>
          <p:cNvPr id="11" name="TextBox 10"/>
          <p:cNvSpPr txBox="1"/>
          <p:nvPr/>
        </p:nvSpPr>
        <p:spPr>
          <a:xfrm>
            <a:off x="3566160" y="2121408"/>
            <a:ext cx="2340864" cy="2514600"/>
          </a:xfrm>
          <a:prstGeom prst="rect">
            <a:avLst/>
          </a:prstGeom>
          <a:noFill/>
        </p:spPr>
        <p:txBody>
          <a:bodyPr wrap="square">
            <a:spAutoFit/>
          </a:bodyPr>
          <a:lstStyle/>
          <a:p>
            <a:pPr>
              <a:defRPr sz="950" b="1">
                <a:solidFill>
                  <a:srgbClr val="2563EB"/>
                </a:solidFill>
                <a:latin typeface="Helvetica"/>
              </a:defRPr>
            </a:pPr>
            <a:r>
              <a:t>3-Command Context Buffer</a:t>
            </a:r>
          </a:p>
          <a:p>
            <a:pPr>
              <a:spcBef>
                <a:spcPts val="400"/>
              </a:spcBef>
              <a:defRPr sz="850">
                <a:solidFill>
                  <a:srgbClr val="334155"/>
                </a:solidFill>
                <a:latin typeface="Helvetica"/>
              </a:defRPr>
            </a:pPr>
            <a:r>
              <a:t>• Analyzes 3 consecutive commands together instead of one in isolation.</a:t>
            </a:r>
          </a:p>
          <a:p>
            <a:pPr>
              <a:spcBef>
                <a:spcPts val="400"/>
              </a:spcBef>
              <a:defRPr sz="850">
                <a:solidFill>
                  <a:srgbClr val="334155"/>
                </a:solidFill>
                <a:latin typeface="Helvetica"/>
              </a:defRPr>
            </a:pPr>
            <a:r>
              <a:t>• Extracts Command Line NLP &amp; Randomness (Entropy).</a:t>
            </a:r>
          </a:p>
          <a:p>
            <a:pPr>
              <a:spcBef>
                <a:spcPts val="400"/>
              </a:spcBef>
              <a:defRPr sz="850">
                <a:solidFill>
                  <a:srgbClr val="334155"/>
                </a:solidFill>
                <a:latin typeface="Helvetica"/>
              </a:defRPr>
            </a:pPr>
            <a:r>
              <a:t>• Calculates Process Lineage Rarity (unusual parent/child pairs).</a:t>
            </a:r>
          </a:p>
          <a:p>
            <a:pPr>
              <a:spcBef>
                <a:spcPts val="400"/>
              </a:spcBef>
              <a:defRPr sz="850">
                <a:solidFill>
                  <a:srgbClr val="334155"/>
                </a:solidFill>
                <a:latin typeface="Helvetica"/>
              </a:defRPr>
            </a:pPr>
            <a:r>
              <a:t>• Monitors privilege jumps and root access.</a:t>
            </a:r>
          </a:p>
        </p:txBody>
      </p:sp>
      <p:sp>
        <p:nvSpPr>
          <p:cNvPr id="12" name="Rounded Rectangle 11"/>
          <p:cNvSpPr/>
          <p:nvPr/>
        </p:nvSpPr>
        <p:spPr>
          <a:xfrm>
            <a:off x="3593592" y="4956048"/>
            <a:ext cx="2286000" cy="54864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F172A"/>
                </a:solidFill>
                <a:latin typeface="Helvetica"/>
              </a:defRPr>
            </a:pPr>
            <a:r>
              <a:t>Sequence Analysis</a:t>
            </a:r>
          </a:p>
        </p:txBody>
      </p:sp>
      <p:sp>
        <p:nvSpPr>
          <p:cNvPr id="13" name="Rounded Rectangle 12"/>
          <p:cNvSpPr/>
          <p:nvPr/>
        </p:nvSpPr>
        <p:spPr>
          <a:xfrm>
            <a:off x="6181344" y="1691640"/>
            <a:ext cx="2560320" cy="39776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81344" y="1691640"/>
            <a:ext cx="2560320" cy="38404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Helvetica"/>
              </a:defRPr>
            </a:pPr>
            <a:r>
              <a:t>3. Isolation Forest</a:t>
            </a:r>
          </a:p>
        </p:txBody>
      </p:sp>
      <p:sp>
        <p:nvSpPr>
          <p:cNvPr id="15" name="TextBox 14"/>
          <p:cNvSpPr txBox="1"/>
          <p:nvPr/>
        </p:nvSpPr>
        <p:spPr>
          <a:xfrm>
            <a:off x="6291072" y="2121408"/>
            <a:ext cx="2340864" cy="2514600"/>
          </a:xfrm>
          <a:prstGeom prst="rect">
            <a:avLst/>
          </a:prstGeom>
          <a:noFill/>
        </p:spPr>
        <p:txBody>
          <a:bodyPr wrap="square">
            <a:spAutoFit/>
          </a:bodyPr>
          <a:lstStyle/>
          <a:p>
            <a:pPr>
              <a:defRPr sz="950" b="1">
                <a:solidFill>
                  <a:srgbClr val="2563EB"/>
                </a:solidFill>
                <a:latin typeface="Helvetica"/>
              </a:defRPr>
            </a:pPr>
            <a:r>
              <a:t>Unsupervised Anomaly Model</a:t>
            </a:r>
          </a:p>
          <a:p>
            <a:pPr>
              <a:spcBef>
                <a:spcPts val="400"/>
              </a:spcBef>
              <a:defRPr sz="850">
                <a:solidFill>
                  <a:srgbClr val="334155"/>
                </a:solidFill>
                <a:latin typeface="Helvetica"/>
              </a:defRPr>
            </a:pPr>
            <a:r>
              <a:t>• Learns what normal administration looks like using only benign logs.</a:t>
            </a:r>
          </a:p>
          <a:p>
            <a:pPr>
              <a:spcBef>
                <a:spcPts val="400"/>
              </a:spcBef>
              <a:defRPr sz="850">
                <a:solidFill>
                  <a:srgbClr val="334155"/>
                </a:solidFill>
                <a:latin typeface="Helvetica"/>
              </a:defRPr>
            </a:pPr>
            <a:r>
              <a:t>• No attack labels needed during training.</a:t>
            </a:r>
          </a:p>
          <a:p>
            <a:pPr>
              <a:spcBef>
                <a:spcPts val="400"/>
              </a:spcBef>
              <a:defRPr sz="850">
                <a:solidFill>
                  <a:srgbClr val="334155"/>
                </a:solidFill>
                <a:latin typeface="Helvetica"/>
              </a:defRPr>
            </a:pPr>
            <a:r>
              <a:t>• Scores every command from 0.0 (safe) to 1.0 (anomalous).</a:t>
            </a:r>
          </a:p>
          <a:p>
            <a:pPr>
              <a:spcBef>
                <a:spcPts val="400"/>
              </a:spcBef>
              <a:defRPr sz="850">
                <a:solidFill>
                  <a:srgbClr val="334155"/>
                </a:solidFill>
                <a:latin typeface="Helvetica"/>
              </a:defRPr>
            </a:pPr>
            <a:r>
              <a:t>• Calibrated cutoff: alarms triggered at &gt; 0.50.</a:t>
            </a:r>
          </a:p>
        </p:txBody>
      </p:sp>
      <p:sp>
        <p:nvSpPr>
          <p:cNvPr id="16" name="Rounded Rectangle 15"/>
          <p:cNvSpPr/>
          <p:nvPr/>
        </p:nvSpPr>
        <p:spPr>
          <a:xfrm>
            <a:off x="6318504" y="4956048"/>
            <a:ext cx="2286000" cy="54864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F172A"/>
                </a:solidFill>
                <a:latin typeface="Helvetica"/>
              </a:defRPr>
            </a:pPr>
            <a:r>
              <a:t>Normal vs. Anomaly</a:t>
            </a:r>
          </a:p>
        </p:txBody>
      </p:sp>
      <p:sp>
        <p:nvSpPr>
          <p:cNvPr id="17" name="Rounded Rectangle 16"/>
          <p:cNvSpPr/>
          <p:nvPr/>
        </p:nvSpPr>
        <p:spPr>
          <a:xfrm>
            <a:off x="8906256" y="1691640"/>
            <a:ext cx="2560320" cy="39776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06256" y="1691640"/>
            <a:ext cx="2560320" cy="38404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Helvetica"/>
              </a:defRPr>
            </a:pPr>
            <a:r>
              <a:t>4. LLM Explainer</a:t>
            </a:r>
          </a:p>
        </p:txBody>
      </p:sp>
      <p:sp>
        <p:nvSpPr>
          <p:cNvPr id="19" name="TextBox 18"/>
          <p:cNvSpPr txBox="1"/>
          <p:nvPr/>
        </p:nvSpPr>
        <p:spPr>
          <a:xfrm>
            <a:off x="9015984" y="2121408"/>
            <a:ext cx="2340864" cy="2514600"/>
          </a:xfrm>
          <a:prstGeom prst="rect">
            <a:avLst/>
          </a:prstGeom>
          <a:noFill/>
        </p:spPr>
        <p:txBody>
          <a:bodyPr wrap="square">
            <a:spAutoFit/>
          </a:bodyPr>
          <a:lstStyle/>
          <a:p>
            <a:pPr>
              <a:defRPr sz="950" b="1">
                <a:solidFill>
                  <a:srgbClr val="2563EB"/>
                </a:solidFill>
                <a:latin typeface="Helvetica"/>
              </a:defRPr>
            </a:pPr>
            <a:r>
              <a:t>AI SOC Analyst Layer</a:t>
            </a:r>
          </a:p>
          <a:p>
            <a:pPr>
              <a:spcBef>
                <a:spcPts val="400"/>
              </a:spcBef>
              <a:defRPr sz="850">
                <a:solidFill>
                  <a:srgbClr val="334155"/>
                </a:solidFill>
                <a:latin typeface="Helvetica"/>
              </a:defRPr>
            </a:pPr>
            <a:r>
              <a:t>• Takes the flagged anomaly and writes a plain-English report.</a:t>
            </a:r>
          </a:p>
          <a:p>
            <a:pPr>
              <a:spcBef>
                <a:spcPts val="400"/>
              </a:spcBef>
              <a:defRPr sz="850">
                <a:solidFill>
                  <a:srgbClr val="334155"/>
                </a:solidFill>
                <a:latin typeface="Helvetica"/>
              </a:defRPr>
            </a:pPr>
            <a:r>
              <a:t>• Identifies the specific MITRE ATT&amp;CK technique (e.g., T1548.003).</a:t>
            </a:r>
          </a:p>
          <a:p>
            <a:pPr>
              <a:spcBef>
                <a:spcPts val="400"/>
              </a:spcBef>
              <a:defRPr sz="850">
                <a:solidFill>
                  <a:srgbClr val="334155"/>
                </a:solidFill>
                <a:latin typeface="Helvetica"/>
              </a:defRPr>
            </a:pPr>
            <a:r>
              <a:t>• Provides a confidence score (e.g., 95%).</a:t>
            </a:r>
          </a:p>
          <a:p>
            <a:pPr>
              <a:spcBef>
                <a:spcPts val="400"/>
              </a:spcBef>
              <a:defRPr sz="850">
                <a:solidFill>
                  <a:srgbClr val="334155"/>
                </a:solidFill>
                <a:latin typeface="Helvetica"/>
              </a:defRPr>
            </a:pPr>
            <a:r>
              <a:t>• Enables junior analysts to triage in seconds.</a:t>
            </a:r>
          </a:p>
        </p:txBody>
      </p:sp>
      <p:sp>
        <p:nvSpPr>
          <p:cNvPr id="20" name="Rounded Rectangle 19"/>
          <p:cNvSpPr/>
          <p:nvPr/>
        </p:nvSpPr>
        <p:spPr>
          <a:xfrm>
            <a:off x="9043416" y="4956048"/>
            <a:ext cx="2286000" cy="54864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F172A"/>
                </a:solidFill>
                <a:latin typeface="Helvetica"/>
              </a:defRPr>
            </a:pPr>
            <a:r>
              <a:t>Plain-English Triage</a:t>
            </a:r>
          </a:p>
        </p:txBody>
      </p:sp>
      <p:sp>
        <p:nvSpPr>
          <p:cNvPr id="21" name="TextBox 20"/>
          <p:cNvSpPr txBox="1"/>
          <p:nvPr/>
        </p:nvSpPr>
        <p:spPr>
          <a:xfrm>
            <a:off x="3246120" y="3383280"/>
            <a:ext cx="274320" cy="274320"/>
          </a:xfrm>
          <a:prstGeom prst="rect">
            <a:avLst/>
          </a:prstGeom>
          <a:noFill/>
        </p:spPr>
        <p:txBody>
          <a:bodyPr wrap="none">
            <a:spAutoFit/>
          </a:bodyPr>
          <a:lstStyle/>
          <a:p>
            <a:pPr>
              <a:defRPr sz="1600" b="1">
                <a:solidFill>
                  <a:srgbClr val="2563EB"/>
                </a:solidFill>
              </a:defRPr>
            </a:pPr>
            <a:r>
              <a:t>➔</a:t>
            </a:r>
          </a:p>
        </p:txBody>
      </p:sp>
      <p:sp>
        <p:nvSpPr>
          <p:cNvPr id="22" name="TextBox 21"/>
          <p:cNvSpPr txBox="1"/>
          <p:nvPr/>
        </p:nvSpPr>
        <p:spPr>
          <a:xfrm>
            <a:off x="5971031" y="3383280"/>
            <a:ext cx="274320" cy="274320"/>
          </a:xfrm>
          <a:prstGeom prst="rect">
            <a:avLst/>
          </a:prstGeom>
          <a:noFill/>
        </p:spPr>
        <p:txBody>
          <a:bodyPr wrap="none">
            <a:spAutoFit/>
          </a:bodyPr>
          <a:lstStyle/>
          <a:p>
            <a:pPr>
              <a:defRPr sz="1600" b="1">
                <a:solidFill>
                  <a:srgbClr val="2563EB"/>
                </a:solidFill>
              </a:defRPr>
            </a:pPr>
            <a:r>
              <a:t>➔</a:t>
            </a:r>
          </a:p>
        </p:txBody>
      </p:sp>
      <p:sp>
        <p:nvSpPr>
          <p:cNvPr id="23" name="TextBox 22"/>
          <p:cNvSpPr txBox="1"/>
          <p:nvPr/>
        </p:nvSpPr>
        <p:spPr>
          <a:xfrm>
            <a:off x="8695944" y="3383280"/>
            <a:ext cx="274320" cy="274320"/>
          </a:xfrm>
          <a:prstGeom prst="rect">
            <a:avLst/>
          </a:prstGeom>
          <a:noFill/>
        </p:spPr>
        <p:txBody>
          <a:bodyPr wrap="none">
            <a:spAutoFit/>
          </a:bodyPr>
          <a:lstStyle/>
          <a:p>
            <a:pPr>
              <a:defRPr sz="1600" b="1">
                <a:solidFill>
                  <a:srgbClr val="2563EB"/>
                </a:solidFill>
              </a:defRPr>
            </a:pPr>
            <a:r>
              <a:t>➔</a:t>
            </a:r>
          </a:p>
        </p:txBody>
      </p:sp>
      <p:sp>
        <p:nvSpPr>
          <p:cNvPr id="24" name="TextBox 23"/>
          <p:cNvSpPr txBox="1"/>
          <p:nvPr/>
        </p:nvSpPr>
        <p:spPr>
          <a:xfrm>
            <a:off x="731520" y="5779008"/>
            <a:ext cx="10728655" cy="502920"/>
          </a:xfrm>
          <a:prstGeom prst="rect">
            <a:avLst/>
          </a:prstGeom>
          <a:noFill/>
        </p:spPr>
        <p:txBody>
          <a:bodyPr wrap="none">
            <a:spAutoFit/>
          </a:bodyPr>
          <a:lstStyle/>
          <a:p>
            <a:pPr>
              <a:defRPr sz="900">
                <a:solidFill>
                  <a:srgbClr val="64748B"/>
                </a:solidFill>
                <a:latin typeface="Helvetica"/>
              </a:defRPr>
            </a:pPr>
            <a:r>
              <a:t>Key Advantage: The pipeline is fully automated—events flow from auditd, get enriched with sequence context, scored by Isolation Forest, and translated into SOC-ready summaries by the LLM without manual analyst intervention.</a:t>
            </a:r>
          </a:p>
        </p:txBody>
      </p:sp>
      <p:sp>
        <p:nvSpPr>
          <p:cNvPr id="25" name="Rectangle 24"/>
          <p:cNvSpPr/>
          <p:nvPr/>
        </p:nvSpPr>
        <p:spPr>
          <a:xfrm>
            <a:off x="0" y="0"/>
            <a:ext cx="12191695"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6446520"/>
            <a:ext cx="8229600" cy="320040"/>
          </a:xfrm>
          <a:prstGeom prst="rect">
            <a:avLst/>
          </a:prstGeom>
          <a:noFill/>
        </p:spPr>
        <p:txBody>
          <a:bodyPr wrap="square">
            <a:spAutoFit/>
          </a:bodyPr>
          <a:lstStyle/>
          <a:p>
            <a:pPr>
              <a:defRPr sz="900">
                <a:solidFill>
                  <a:srgbClr val="64748B"/>
                </a:solidFill>
                <a:latin typeface="Helvetica"/>
              </a:defRPr>
            </a:pPr>
            <a:r>
              <a:t>AI-Assisted Detection of LOLBin-Based Privilege Escalation | NFSU M.Tech Cyber Security</a:t>
            </a:r>
          </a:p>
        </p:txBody>
      </p:sp>
      <p:sp>
        <p:nvSpPr>
          <p:cNvPr id="28" name="TextBox 27"/>
          <p:cNvSpPr txBox="1"/>
          <p:nvPr/>
        </p:nvSpPr>
        <p:spPr>
          <a:xfrm>
            <a:off x="9601200" y="6446520"/>
            <a:ext cx="1828800" cy="320040"/>
          </a:xfrm>
          <a:prstGeom prst="rect">
            <a:avLst/>
          </a:prstGeom>
          <a:noFill/>
        </p:spPr>
        <p:txBody>
          <a:bodyPr wrap="none">
            <a:spAutoFit/>
          </a:bodyPr>
          <a:lstStyle/>
          <a:p>
            <a:pPr algn="r">
              <a:defRPr sz="900" b="1">
                <a:solidFill>
                  <a:srgbClr val="64748B"/>
                </a:solidFill>
                <a:latin typeface="Helvetica"/>
              </a:defRPr>
            </a:pPr>
            <a:r>
              <a:t>Slide 4 of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84048"/>
            <a:ext cx="3840480" cy="292608"/>
          </a:xfrm>
          <a:prstGeom prst="roundRect">
            <a:avLst/>
          </a:prstGeom>
          <a:solidFill>
            <a:srgbClr val="F0FDF4"/>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15803D"/>
                </a:solidFill>
                <a:latin typeface="Helvetica"/>
              </a:defRPr>
            </a:pPr>
            <a:r>
              <a:t>● REAL UBUNTU AUDITD VALIDATION</a:t>
            </a:r>
          </a:p>
        </p:txBody>
      </p:sp>
      <p:sp>
        <p:nvSpPr>
          <p:cNvPr id="3" name="TextBox 2"/>
          <p:cNvSpPr txBox="1"/>
          <p:nvPr/>
        </p:nvSpPr>
        <p:spPr>
          <a:xfrm>
            <a:off x="731520" y="731520"/>
            <a:ext cx="10728655" cy="502920"/>
          </a:xfrm>
          <a:prstGeom prst="rect">
            <a:avLst/>
          </a:prstGeom>
          <a:noFill/>
        </p:spPr>
        <p:txBody>
          <a:bodyPr wrap="square">
            <a:spAutoFit/>
          </a:bodyPr>
          <a:lstStyle/>
          <a:p>
            <a:pPr>
              <a:defRPr sz="2200" b="1">
                <a:solidFill>
                  <a:srgbClr val="0F172A"/>
                </a:solidFill>
                <a:latin typeface="Helvetica"/>
              </a:defRPr>
            </a:pPr>
            <a:r>
              <a:t>Real Ubuntu Results: Filtering Normal Sysadmin Behavior</a:t>
            </a:r>
          </a:p>
        </p:txBody>
      </p:sp>
      <p:sp>
        <p:nvSpPr>
          <p:cNvPr id="4" name="TextBox 3"/>
          <p:cNvSpPr txBox="1"/>
          <p:nvPr/>
        </p:nvSpPr>
        <p:spPr>
          <a:xfrm>
            <a:off x="731520" y="1234440"/>
            <a:ext cx="10728655" cy="320040"/>
          </a:xfrm>
          <a:prstGeom prst="rect">
            <a:avLst/>
          </a:prstGeom>
          <a:noFill/>
        </p:spPr>
        <p:txBody>
          <a:bodyPr wrap="square">
            <a:spAutoFit/>
          </a:bodyPr>
          <a:lstStyle/>
          <a:p>
            <a:pPr>
              <a:defRPr sz="1100">
                <a:solidFill>
                  <a:srgbClr val="64748B"/>
                </a:solidFill>
                <a:latin typeface="Helvetica"/>
              </a:defRPr>
            </a:pPr>
            <a:r>
              <a:t>Tested on 25,495 real Linux auditd events to prove normal activity doesn't cause false alarms</a:t>
            </a:r>
          </a:p>
        </p:txBody>
      </p:sp>
      <p:sp>
        <p:nvSpPr>
          <p:cNvPr id="5" name="Rounded Rectangle 4"/>
          <p:cNvSpPr/>
          <p:nvPr/>
        </p:nvSpPr>
        <p:spPr>
          <a:xfrm>
            <a:off x="731520" y="1691640"/>
            <a:ext cx="5120640"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lIns="228600" tIns="182880" wrap="square"/>
          <a:lstStyle/>
          <a:p>
            <a:pPr algn="l">
              <a:defRPr sz="1150" b="1">
                <a:solidFill>
                  <a:srgbClr val="0F172A"/>
                </a:solidFill>
                <a:latin typeface="Helvetica"/>
              </a:defRPr>
            </a:pPr>
            <a:r>
              <a:t>Normal Baseline Verification (N = 7,649 Held-Out Events)</a:t>
            </a:r>
          </a:p>
          <a:p>
            <a:pPr algn="l">
              <a:spcBef>
                <a:spcPts val="400"/>
              </a:spcBef>
              <a:defRPr sz="950" b="1">
                <a:solidFill>
                  <a:srgbClr val="1E3A8A"/>
                </a:solidFill>
                <a:latin typeface="Helvetica"/>
              </a:defRPr>
            </a:pPr>
            <a:r>
              <a:t>• 25,495 Real System Events Collected: </a:t>
            </a:r>
            <a:r>
              <a:rPr b="0">
                <a:solidFill>
                  <a:srgbClr val="334155"/>
                </a:solidFill>
              </a:rPr>
              <a:t>Recorded from routine Ubuntu software updates, developer tests, cron jobs, and file operations.</a:t>
            </a:r>
          </a:p>
          <a:p>
            <a:pPr algn="l">
              <a:spcBef>
                <a:spcPts val="400"/>
              </a:spcBef>
              <a:defRPr sz="950" b="1">
                <a:solidFill>
                  <a:srgbClr val="1E3A8A"/>
                </a:solidFill>
                <a:latin typeface="Helvetica"/>
              </a:defRPr>
            </a:pPr>
            <a:r>
              <a:t>• Strict 70/30 Split: </a:t>
            </a:r>
            <a:r>
              <a:rPr b="0">
                <a:solidFill>
                  <a:srgbClr val="334155"/>
                </a:solidFill>
              </a:rPr>
              <a:t>17,846 events used to train the normal model; 7,649 separate events used to test false alarm rates.</a:t>
            </a:r>
          </a:p>
          <a:p>
            <a:pPr algn="l">
              <a:spcBef>
                <a:spcPts val="400"/>
              </a:spcBef>
              <a:defRPr sz="950" b="1">
                <a:solidFill>
                  <a:srgbClr val="1E3A8A"/>
                </a:solidFill>
                <a:latin typeface="Helvetica"/>
              </a:defRPr>
            </a:pPr>
            <a:r>
              <a:t>• Only 4.67% False Positive Rate: </a:t>
            </a:r>
            <a:r>
              <a:rPr b="0">
                <a:solidFill>
                  <a:srgbClr val="334155"/>
                </a:solidFill>
              </a:rPr>
              <a:t>Over 95.3% of normal system tasks safely scored below the alarm boundary (threshold = 0.50).</a:t>
            </a:r>
          </a:p>
          <a:p>
            <a:pPr algn="l">
              <a:spcBef>
                <a:spcPts val="400"/>
              </a:spcBef>
              <a:defRPr sz="950" b="1">
                <a:solidFill>
                  <a:srgbClr val="1E3A8A"/>
                </a:solidFill>
                <a:latin typeface="Helvetica"/>
              </a:defRPr>
            </a:pPr>
            <a:r>
              <a:t>• Median Anomaly Score of 0.03: </a:t>
            </a:r>
            <a:r>
              <a:rPr b="0">
                <a:solidFill>
                  <a:srgbClr val="334155"/>
                </a:solidFill>
              </a:rPr>
              <a:t>Typical system tasks scored near zero, proving normal behavior sits deep inside the safe zone.</a:t>
            </a:r>
          </a:p>
          <a:p>
            <a:pPr algn="l">
              <a:spcBef>
                <a:spcPts val="400"/>
              </a:spcBef>
              <a:defRPr sz="950" b="1">
                <a:solidFill>
                  <a:srgbClr val="1E3A8A"/>
                </a:solidFill>
                <a:latin typeface="Helvetica"/>
              </a:defRPr>
            </a:pPr>
            <a:r>
              <a:t>• 87.4% Scored Under 0.20: </a:t>
            </a:r>
            <a:r>
              <a:rPr b="0">
                <a:solidFill>
                  <a:srgbClr val="334155"/>
                </a:solidFill>
              </a:rPr>
              <a:t>6,682 events produced near-zero scores, showing high model confidence in routine system activity.</a:t>
            </a:r>
          </a:p>
          <a:p>
            <a:pPr algn="l">
              <a:spcBef>
                <a:spcPts val="400"/>
              </a:spcBef>
              <a:defRPr sz="950" b="1">
                <a:solidFill>
                  <a:srgbClr val="1E3A8A"/>
                </a:solidFill>
                <a:latin typeface="Helvetica"/>
              </a:defRPr>
            </a:pPr>
            <a:r>
              <a:t>• Normal Tools Stay Clean: </a:t>
            </a:r>
            <a:r>
              <a:rPr b="0">
                <a:solidFill>
                  <a:srgbClr val="334155"/>
                </a:solidFill>
              </a:rPr>
              <a:t>Legitimate uses of 'find' (0.0% false alarms) and 'awk' (0.0% false alarms) were correctly left unflagged.</a:t>
            </a:r>
          </a:p>
        </p:txBody>
      </p:sp>
      <p:sp>
        <p:nvSpPr>
          <p:cNvPr id="6" name="Rounded Rectangle 5"/>
          <p:cNvSpPr/>
          <p:nvPr/>
        </p:nvSpPr>
        <p:spPr>
          <a:xfrm>
            <a:off x="6035040" y="1691640"/>
            <a:ext cx="5425135"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5_baseline_simple.png"/>
          <p:cNvPicPr>
            <a:picLocks noChangeAspect="1"/>
          </p:cNvPicPr>
          <p:nvPr/>
        </p:nvPicPr>
        <p:blipFill>
          <a:blip r:embed="rId2"/>
          <a:stretch>
            <a:fillRect/>
          </a:stretch>
        </p:blipFill>
        <p:spPr>
          <a:xfrm>
            <a:off x="6126480" y="1828800"/>
            <a:ext cx="5242255" cy="3705732"/>
          </a:xfrm>
          <a:prstGeom prst="rect">
            <a:avLst/>
          </a:prstGeom>
        </p:spPr>
      </p:pic>
      <p:sp>
        <p:nvSpPr>
          <p:cNvPr id="8" name="Rectangle 7"/>
          <p:cNvSpPr/>
          <p:nvPr/>
        </p:nvSpPr>
        <p:spPr>
          <a:xfrm>
            <a:off x="0" y="0"/>
            <a:ext cx="12191695"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46520"/>
            <a:ext cx="8229600" cy="320040"/>
          </a:xfrm>
          <a:prstGeom prst="rect">
            <a:avLst/>
          </a:prstGeom>
          <a:noFill/>
        </p:spPr>
        <p:txBody>
          <a:bodyPr wrap="square">
            <a:spAutoFit/>
          </a:bodyPr>
          <a:lstStyle/>
          <a:p>
            <a:pPr>
              <a:defRPr sz="900">
                <a:solidFill>
                  <a:srgbClr val="64748B"/>
                </a:solidFill>
                <a:latin typeface="Helvetica"/>
              </a:defRPr>
            </a:pPr>
            <a:r>
              <a:t>AI-Assisted Detection of LOLBin-Based Privilege Escalation | NFSU M.Tech Cyber Security</a:t>
            </a:r>
          </a:p>
        </p:txBody>
      </p:sp>
      <p:sp>
        <p:nvSpPr>
          <p:cNvPr id="11" name="TextBox 10"/>
          <p:cNvSpPr txBox="1"/>
          <p:nvPr/>
        </p:nvSpPr>
        <p:spPr>
          <a:xfrm>
            <a:off x="9601200" y="6446520"/>
            <a:ext cx="1828800" cy="320040"/>
          </a:xfrm>
          <a:prstGeom prst="rect">
            <a:avLst/>
          </a:prstGeom>
          <a:noFill/>
        </p:spPr>
        <p:txBody>
          <a:bodyPr wrap="none">
            <a:spAutoFit/>
          </a:bodyPr>
          <a:lstStyle/>
          <a:p>
            <a:pPr algn="r">
              <a:defRPr sz="900" b="1">
                <a:solidFill>
                  <a:srgbClr val="64748B"/>
                </a:solidFill>
                <a:latin typeface="Helvetica"/>
              </a:defRPr>
            </a:pPr>
            <a:r>
              <a:t>Slide 5 of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84048"/>
            <a:ext cx="3840480" cy="292608"/>
          </a:xfrm>
          <a:prstGeom prst="roundRect">
            <a:avLst/>
          </a:prstGeom>
          <a:solidFill>
            <a:srgbClr val="F0FDF4"/>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15803D"/>
                </a:solidFill>
                <a:latin typeface="Helvetica"/>
              </a:defRPr>
            </a:pPr>
            <a:r>
              <a:t>● REAL UBUNTU AUDITD INFERENCE</a:t>
            </a:r>
          </a:p>
        </p:txBody>
      </p:sp>
      <p:sp>
        <p:nvSpPr>
          <p:cNvPr id="3" name="TextBox 2"/>
          <p:cNvSpPr txBox="1"/>
          <p:nvPr/>
        </p:nvSpPr>
        <p:spPr>
          <a:xfrm>
            <a:off x="731520" y="731520"/>
            <a:ext cx="10728655" cy="502920"/>
          </a:xfrm>
          <a:prstGeom prst="rect">
            <a:avLst/>
          </a:prstGeom>
          <a:noFill/>
        </p:spPr>
        <p:txBody>
          <a:bodyPr wrap="square">
            <a:spAutoFit/>
          </a:bodyPr>
          <a:lstStyle/>
          <a:p>
            <a:pPr>
              <a:defRPr sz="2200" b="1">
                <a:solidFill>
                  <a:srgbClr val="0F172A"/>
                </a:solidFill>
                <a:latin typeface="Helvetica"/>
              </a:defRPr>
            </a:pPr>
            <a:r>
              <a:t>Live Evidence: The 'id' Command Context Effect</a:t>
            </a:r>
          </a:p>
        </p:txBody>
      </p:sp>
      <p:sp>
        <p:nvSpPr>
          <p:cNvPr id="4" name="TextBox 3"/>
          <p:cNvSpPr txBox="1"/>
          <p:nvPr/>
        </p:nvSpPr>
        <p:spPr>
          <a:xfrm>
            <a:off x="731520" y="1234440"/>
            <a:ext cx="10728655" cy="320040"/>
          </a:xfrm>
          <a:prstGeom prst="rect">
            <a:avLst/>
          </a:prstGeom>
          <a:noFill/>
        </p:spPr>
        <p:txBody>
          <a:bodyPr wrap="square">
            <a:spAutoFit/>
          </a:bodyPr>
          <a:lstStyle/>
          <a:p>
            <a:pPr>
              <a:defRPr sz="1100">
                <a:solidFill>
                  <a:srgbClr val="64748B"/>
                </a:solidFill>
                <a:latin typeface="Helvetica"/>
              </a:defRPr>
            </a:pPr>
            <a:r>
              <a:t>The exact same command scores 0.08 in isolation vs. 0.58 mid-sequence, proving sequence awareness</a:t>
            </a:r>
          </a:p>
        </p:txBody>
      </p:sp>
      <p:sp>
        <p:nvSpPr>
          <p:cNvPr id="5" name="Rounded Rectangle 4"/>
          <p:cNvSpPr/>
          <p:nvPr/>
        </p:nvSpPr>
        <p:spPr>
          <a:xfrm>
            <a:off x="731520" y="1691640"/>
            <a:ext cx="5120640"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lIns="228600" tIns="182880" wrap="square"/>
          <a:lstStyle/>
          <a:p>
            <a:pPr algn="l">
              <a:defRPr sz="1150" b="1">
                <a:solidFill>
                  <a:srgbClr val="0F172A"/>
                </a:solidFill>
                <a:latin typeface="Helvetica"/>
              </a:defRPr>
            </a:pPr>
            <a:r>
              <a:t>How Context Windows Elevate Subtle Reconnaissance</a:t>
            </a:r>
          </a:p>
          <a:p>
            <a:pPr algn="l">
              <a:spcBef>
                <a:spcPts val="400"/>
              </a:spcBef>
              <a:defRPr sz="950" b="1">
                <a:solidFill>
                  <a:srgbClr val="1E3A8A"/>
                </a:solidFill>
                <a:latin typeface="Helvetica"/>
              </a:defRPr>
            </a:pPr>
            <a:r>
              <a:t>• The Reconnaissance Dilemma: </a:t>
            </a:r>
            <a:r>
              <a:rPr b="0">
                <a:solidFill>
                  <a:srgbClr val="334155"/>
                </a:solidFill>
              </a:rPr>
              <a:t>Hackers routinely execute 'id' or 'whoami' immediately after escalating privileges to verify root access. But sysadmins also run 'id' constantly.</a:t>
            </a:r>
          </a:p>
          <a:p>
            <a:pPr algn="l">
              <a:spcBef>
                <a:spcPts val="400"/>
              </a:spcBef>
              <a:defRPr sz="950" b="1">
                <a:solidFill>
                  <a:srgbClr val="1E3A8A"/>
                </a:solidFill>
                <a:latin typeface="Helvetica"/>
              </a:defRPr>
            </a:pPr>
            <a:r>
              <a:t>• In Isolation (Score: 0.05 – 0.12): </a:t>
            </a:r>
            <a:r>
              <a:rPr b="0">
                <a:solidFill>
                  <a:srgbClr val="334155"/>
                </a:solidFill>
              </a:rPr>
              <a:t>When executed alone or in benign sessions, 'id' scores safely below the 0.50 alarm line (Events #68, #85, #109). Traditional single-command tools ignore it.</a:t>
            </a:r>
          </a:p>
          <a:p>
            <a:pPr algn="l">
              <a:spcBef>
                <a:spcPts val="400"/>
              </a:spcBef>
              <a:defRPr sz="950" b="1">
                <a:solidFill>
                  <a:srgbClr val="1E3A8A"/>
                </a:solidFill>
                <a:latin typeface="Helvetica"/>
              </a:defRPr>
            </a:pPr>
            <a:r>
              <a:t>• Mid-Attack Sequence (Score: 0.58!): </a:t>
            </a:r>
            <a:r>
              <a:rPr b="0">
                <a:solidFill>
                  <a:srgbClr val="334155"/>
                </a:solidFill>
              </a:rPr>
              <a:t>When the exact same 'id' command is executed immediately after an exploit (like 'tar --checkpoint' or 'python3'), our 3-command window carries forward the suspicious context.</a:t>
            </a:r>
          </a:p>
          <a:p>
            <a:pPr algn="l">
              <a:spcBef>
                <a:spcPts val="400"/>
              </a:spcBef>
              <a:defRPr sz="950" b="1">
                <a:solidFill>
                  <a:srgbClr val="1E3A8A"/>
                </a:solidFill>
                <a:latin typeface="Helvetica"/>
              </a:defRPr>
            </a:pPr>
            <a:r>
              <a:t>• Alarm Successfully Triggered: </a:t>
            </a:r>
            <a:r>
              <a:rPr b="0">
                <a:solidFill>
                  <a:srgbClr val="334155"/>
                </a:solidFill>
              </a:rPr>
              <a:t>The score immediately jumps from ~0.08 to 0.5792 &amp; 0.5834 (Events #83, #106)—crossing the 0.50 threshold and raising an alarm!</a:t>
            </a:r>
          </a:p>
          <a:p>
            <a:pPr algn="l">
              <a:spcBef>
                <a:spcPts val="400"/>
              </a:spcBef>
              <a:defRPr sz="950" b="1">
                <a:solidFill>
                  <a:srgbClr val="1E3A8A"/>
                </a:solidFill>
                <a:latin typeface="Helvetica"/>
              </a:defRPr>
            </a:pPr>
            <a:r>
              <a:t>• Springer (2026) Empirically Proven: </a:t>
            </a:r>
            <a:r>
              <a:rPr b="0">
                <a:solidFill>
                  <a:srgbClr val="334155"/>
                </a:solidFill>
              </a:rPr>
              <a:t>Evaluating command windows catches attackers checking root access even when using completely legitimate tools.</a:t>
            </a:r>
          </a:p>
        </p:txBody>
      </p:sp>
      <p:sp>
        <p:nvSpPr>
          <p:cNvPr id="6" name="Rounded Rectangle 5"/>
          <p:cNvSpPr/>
          <p:nvPr/>
        </p:nvSpPr>
        <p:spPr>
          <a:xfrm>
            <a:off x="6035040" y="1691640"/>
            <a:ext cx="5425135"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7_window_context.png"/>
          <p:cNvPicPr>
            <a:picLocks noChangeAspect="1"/>
          </p:cNvPicPr>
          <p:nvPr/>
        </p:nvPicPr>
        <p:blipFill>
          <a:blip r:embed="rId2"/>
          <a:stretch>
            <a:fillRect/>
          </a:stretch>
        </p:blipFill>
        <p:spPr>
          <a:xfrm>
            <a:off x="6126480" y="1828800"/>
            <a:ext cx="5242255" cy="3625270"/>
          </a:xfrm>
          <a:prstGeom prst="rect">
            <a:avLst/>
          </a:prstGeom>
        </p:spPr>
      </p:pic>
      <p:sp>
        <p:nvSpPr>
          <p:cNvPr id="8" name="Rectangle 7"/>
          <p:cNvSpPr/>
          <p:nvPr/>
        </p:nvSpPr>
        <p:spPr>
          <a:xfrm>
            <a:off x="0" y="0"/>
            <a:ext cx="12191695"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46520"/>
            <a:ext cx="8229600" cy="320040"/>
          </a:xfrm>
          <a:prstGeom prst="rect">
            <a:avLst/>
          </a:prstGeom>
          <a:noFill/>
        </p:spPr>
        <p:txBody>
          <a:bodyPr wrap="square">
            <a:spAutoFit/>
          </a:bodyPr>
          <a:lstStyle/>
          <a:p>
            <a:pPr>
              <a:defRPr sz="900">
                <a:solidFill>
                  <a:srgbClr val="64748B"/>
                </a:solidFill>
                <a:latin typeface="Helvetica"/>
              </a:defRPr>
            </a:pPr>
            <a:r>
              <a:t>AI-Assisted Detection of LOLBin-Based Privilege Escalation | NFSU M.Tech Cyber Security</a:t>
            </a:r>
          </a:p>
        </p:txBody>
      </p:sp>
      <p:sp>
        <p:nvSpPr>
          <p:cNvPr id="11" name="TextBox 10"/>
          <p:cNvSpPr txBox="1"/>
          <p:nvPr/>
        </p:nvSpPr>
        <p:spPr>
          <a:xfrm>
            <a:off x="9601200" y="6446520"/>
            <a:ext cx="1828800" cy="320040"/>
          </a:xfrm>
          <a:prstGeom prst="rect">
            <a:avLst/>
          </a:prstGeom>
          <a:noFill/>
        </p:spPr>
        <p:txBody>
          <a:bodyPr wrap="none">
            <a:spAutoFit/>
          </a:bodyPr>
          <a:lstStyle/>
          <a:p>
            <a:pPr algn="r">
              <a:defRPr sz="900" b="1">
                <a:solidFill>
                  <a:srgbClr val="64748B"/>
                </a:solidFill>
                <a:latin typeface="Helvetica"/>
              </a:defRPr>
            </a:pPr>
            <a:r>
              <a:t>Slide 6 of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84048"/>
            <a:ext cx="3840480" cy="292608"/>
          </a:xfrm>
          <a:prstGeom prst="roundRect">
            <a:avLst/>
          </a:prstGeom>
          <a:solidFill>
            <a:srgbClr val="EFF6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1D4ED8"/>
                </a:solidFill>
                <a:latin typeface="Helvetica"/>
              </a:defRPr>
            </a:pPr>
            <a:r>
              <a:t>● ATTACK BENCHMARKS &amp; EVALUATION</a:t>
            </a:r>
          </a:p>
        </p:txBody>
      </p:sp>
      <p:sp>
        <p:nvSpPr>
          <p:cNvPr id="3" name="TextBox 2"/>
          <p:cNvSpPr txBox="1"/>
          <p:nvPr/>
        </p:nvSpPr>
        <p:spPr>
          <a:xfrm>
            <a:off x="731520" y="731520"/>
            <a:ext cx="10728655" cy="502920"/>
          </a:xfrm>
          <a:prstGeom prst="rect">
            <a:avLst/>
          </a:prstGeom>
          <a:noFill/>
        </p:spPr>
        <p:txBody>
          <a:bodyPr wrap="square">
            <a:spAutoFit/>
          </a:bodyPr>
          <a:lstStyle/>
          <a:p>
            <a:pPr>
              <a:defRPr sz="2200" b="1">
                <a:solidFill>
                  <a:srgbClr val="0F172A"/>
                </a:solidFill>
                <a:latin typeface="Helvetica"/>
              </a:defRPr>
            </a:pPr>
            <a:r>
              <a:t>Attack Benchmarks: 100% Attack Chain Interception</a:t>
            </a:r>
          </a:p>
        </p:txBody>
      </p:sp>
      <p:sp>
        <p:nvSpPr>
          <p:cNvPr id="4" name="TextBox 3"/>
          <p:cNvSpPr txBox="1"/>
          <p:nvPr/>
        </p:nvSpPr>
        <p:spPr>
          <a:xfrm>
            <a:off x="731520" y="1234440"/>
            <a:ext cx="10728655" cy="320040"/>
          </a:xfrm>
          <a:prstGeom prst="rect">
            <a:avLst/>
          </a:prstGeom>
          <a:noFill/>
        </p:spPr>
        <p:txBody>
          <a:bodyPr wrap="square">
            <a:spAutoFit/>
          </a:bodyPr>
          <a:lstStyle/>
          <a:p>
            <a:pPr>
              <a:defRPr sz="1100">
                <a:solidFill>
                  <a:srgbClr val="64748B"/>
                </a:solidFill>
                <a:latin typeface="Helvetica"/>
              </a:defRPr>
            </a:pPr>
            <a:r>
              <a:t>Evaluated across three attack tiers; the 3-command window caught and stopped all 60 attack sequences</a:t>
            </a:r>
          </a:p>
        </p:txBody>
      </p:sp>
      <p:sp>
        <p:nvSpPr>
          <p:cNvPr id="5" name="Rounded Rectangle 4"/>
          <p:cNvSpPr/>
          <p:nvPr/>
        </p:nvSpPr>
        <p:spPr>
          <a:xfrm>
            <a:off x="731520" y="1691640"/>
            <a:ext cx="5120640"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lIns="228600" tIns="182880" wrap="square"/>
          <a:lstStyle/>
          <a:p>
            <a:pPr algn="l">
              <a:defRPr sz="1150" b="1">
                <a:solidFill>
                  <a:srgbClr val="0F172A"/>
                </a:solidFill>
                <a:latin typeface="Helvetica"/>
              </a:defRPr>
            </a:pPr>
            <a:r>
              <a:t>Performance Across Attack Complexity Tiers</a:t>
            </a:r>
          </a:p>
          <a:p>
            <a:pPr algn="l">
              <a:defRPr sz="950" b="1">
                <a:solidFill>
                  <a:srgbClr val="1E3A8A"/>
                </a:solidFill>
                <a:latin typeface="Helvetica"/>
              </a:defRPr>
            </a:pPr>
            <a:br/>
            <a:r>
              <a:t>Tier 1: Overt Single Attacks ➔ 100% Caught</a:t>
            </a:r>
          </a:p>
          <a:p>
            <a:pPr algn="l">
              <a:spcBef>
                <a:spcPts val="250"/>
              </a:spcBef>
              <a:defRPr sz="850">
                <a:solidFill>
                  <a:srgbClr val="334155"/>
                </a:solidFill>
                <a:latin typeface="Helvetica"/>
              </a:defRPr>
            </a:pPr>
            <a:r>
              <a:t>• Direct GTFOBin exploits (e.g., 'sudo find -exec', 'sudo python3 exec').</a:t>
            </a:r>
          </a:p>
          <a:p>
            <a:pPr algn="l">
              <a:spcBef>
                <a:spcPts val="250"/>
              </a:spcBef>
              <a:defRPr sz="850">
                <a:solidFill>
                  <a:srgbClr val="334155"/>
                </a:solidFill>
                <a:latin typeface="Helvetica"/>
              </a:defRPr>
            </a:pPr>
            <a:r>
              <a:t>• Every single overt attack command was caught immediately (100% recall, 0.995 F1).</a:t>
            </a:r>
          </a:p>
          <a:p>
            <a:pPr algn="l">
              <a:defRPr sz="950" b="1">
                <a:solidFill>
                  <a:srgbClr val="1E3A8A"/>
                </a:solidFill>
                <a:latin typeface="Helvetica"/>
              </a:defRPr>
            </a:pPr>
            <a:br/>
            <a:r>
              <a:t>Tier 2: Multi-Step Attack Chains ➔ 100% Intercepted</a:t>
            </a:r>
          </a:p>
          <a:p>
            <a:pPr algn="l">
              <a:spcBef>
                <a:spcPts val="250"/>
              </a:spcBef>
              <a:defRPr sz="850">
                <a:solidFill>
                  <a:srgbClr val="334155"/>
                </a:solidFill>
                <a:latin typeface="Helvetica"/>
              </a:defRPr>
            </a:pPr>
            <a:r>
              <a:t>• Realistic multi-step sequences: Reconnaissance ➔ Privilege Jump ➔ Backdoor Staging.</a:t>
            </a:r>
          </a:p>
          <a:p>
            <a:pPr algn="l">
              <a:spcBef>
                <a:spcPts val="250"/>
              </a:spcBef>
              <a:defRPr sz="850">
                <a:solidFill>
                  <a:srgbClr val="334155"/>
                </a:solidFill>
                <a:latin typeface="Helvetica"/>
              </a:defRPr>
            </a:pPr>
            <a:r>
              <a:t>• 100% Chain Interception: All 60 out of 60 attack chains were flagged and halted!</a:t>
            </a:r>
          </a:p>
          <a:p>
            <a:pPr algn="l">
              <a:spcBef>
                <a:spcPts val="250"/>
              </a:spcBef>
              <a:defRPr sz="850">
                <a:solidFill>
                  <a:srgbClr val="334155"/>
                </a:solidFill>
                <a:latin typeface="Helvetica"/>
              </a:defRPr>
            </a:pPr>
            <a:r>
              <a:t>• Rapid Response: Average detection delay was only 0.25 commands (Step 0 or Step 1).</a:t>
            </a:r>
          </a:p>
          <a:p>
            <a:pPr algn="l">
              <a:defRPr sz="950" b="1">
                <a:solidFill>
                  <a:srgbClr val="1E3A8A"/>
                </a:solidFill>
                <a:latin typeface="Helvetica"/>
              </a:defRPr>
            </a:pPr>
            <a:br/>
            <a:r>
              <a:t>Tier 3: Stealthy &amp; Obfuscated Attacks ➔ 90.0% Caught</a:t>
            </a:r>
          </a:p>
          <a:p>
            <a:pPr algn="l">
              <a:spcBef>
                <a:spcPts val="250"/>
              </a:spcBef>
              <a:defRPr sz="850">
                <a:solidFill>
                  <a:srgbClr val="334155"/>
                </a:solidFill>
                <a:latin typeface="Helvetica"/>
              </a:defRPr>
            </a:pPr>
            <a:r>
              <a:t>• Attackers hiding commands with Base64 encoding or hex escaping.</a:t>
            </a:r>
          </a:p>
          <a:p>
            <a:pPr algn="l">
              <a:spcBef>
                <a:spcPts val="250"/>
              </a:spcBef>
              <a:defRPr sz="850">
                <a:solidFill>
                  <a:srgbClr val="334155"/>
                </a:solidFill>
                <a:latin typeface="Helvetica"/>
              </a:defRPr>
            </a:pPr>
            <a:r>
              <a:t>• Model still caught 90% of obfuscated attempts due to elevated command line randomness.</a:t>
            </a:r>
          </a:p>
        </p:txBody>
      </p:sp>
      <p:sp>
        <p:nvSpPr>
          <p:cNvPr id="6" name="Rounded Rectangle 5"/>
          <p:cNvSpPr/>
          <p:nvPr/>
        </p:nvSpPr>
        <p:spPr>
          <a:xfrm>
            <a:off x="6035040" y="1691640"/>
            <a:ext cx="5425135"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6_benchmark_simple.png"/>
          <p:cNvPicPr>
            <a:picLocks noChangeAspect="1"/>
          </p:cNvPicPr>
          <p:nvPr/>
        </p:nvPicPr>
        <p:blipFill>
          <a:blip r:embed="rId2"/>
          <a:stretch>
            <a:fillRect/>
          </a:stretch>
        </p:blipFill>
        <p:spPr>
          <a:xfrm>
            <a:off x="6126480" y="1828800"/>
            <a:ext cx="5242255" cy="3466652"/>
          </a:xfrm>
          <a:prstGeom prst="rect">
            <a:avLst/>
          </a:prstGeom>
        </p:spPr>
      </p:pic>
      <p:sp>
        <p:nvSpPr>
          <p:cNvPr id="8" name="Rectangle 7"/>
          <p:cNvSpPr/>
          <p:nvPr/>
        </p:nvSpPr>
        <p:spPr>
          <a:xfrm>
            <a:off x="0" y="0"/>
            <a:ext cx="12191695"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46520"/>
            <a:ext cx="8229600" cy="320040"/>
          </a:xfrm>
          <a:prstGeom prst="rect">
            <a:avLst/>
          </a:prstGeom>
          <a:noFill/>
        </p:spPr>
        <p:txBody>
          <a:bodyPr wrap="square">
            <a:spAutoFit/>
          </a:bodyPr>
          <a:lstStyle/>
          <a:p>
            <a:pPr>
              <a:defRPr sz="900">
                <a:solidFill>
                  <a:srgbClr val="64748B"/>
                </a:solidFill>
                <a:latin typeface="Helvetica"/>
              </a:defRPr>
            </a:pPr>
            <a:r>
              <a:t>AI-Assisted Detection of LOLBin-Based Privilege Escalation | NFSU M.Tech Cyber Security</a:t>
            </a:r>
          </a:p>
        </p:txBody>
      </p:sp>
      <p:sp>
        <p:nvSpPr>
          <p:cNvPr id="11" name="TextBox 10"/>
          <p:cNvSpPr txBox="1"/>
          <p:nvPr/>
        </p:nvSpPr>
        <p:spPr>
          <a:xfrm>
            <a:off x="9601200" y="6446520"/>
            <a:ext cx="1828800" cy="320040"/>
          </a:xfrm>
          <a:prstGeom prst="rect">
            <a:avLst/>
          </a:prstGeom>
          <a:noFill/>
        </p:spPr>
        <p:txBody>
          <a:bodyPr wrap="none">
            <a:spAutoFit/>
          </a:bodyPr>
          <a:lstStyle/>
          <a:p>
            <a:pPr algn="r">
              <a:defRPr sz="900" b="1">
                <a:solidFill>
                  <a:srgbClr val="64748B"/>
                </a:solidFill>
                <a:latin typeface="Helvetica"/>
              </a:defRPr>
            </a:pPr>
            <a:r>
              <a:t>Slide 7 of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84048"/>
            <a:ext cx="3840480" cy="292608"/>
          </a:xfrm>
          <a:prstGeom prst="roundRect">
            <a:avLst/>
          </a:prstGeom>
          <a:solidFill>
            <a:srgbClr val="EFF6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1D4ED8"/>
                </a:solidFill>
                <a:latin typeface="Helvetica"/>
              </a:defRPr>
            </a:pPr>
            <a:r>
              <a:t>● AI EXPLAINABILITY &amp; SOC REPORTING</a:t>
            </a:r>
          </a:p>
        </p:txBody>
      </p:sp>
      <p:sp>
        <p:nvSpPr>
          <p:cNvPr id="3" name="TextBox 2"/>
          <p:cNvSpPr txBox="1"/>
          <p:nvPr/>
        </p:nvSpPr>
        <p:spPr>
          <a:xfrm>
            <a:off x="731520" y="731520"/>
            <a:ext cx="10728655" cy="502920"/>
          </a:xfrm>
          <a:prstGeom prst="rect">
            <a:avLst/>
          </a:prstGeom>
          <a:noFill/>
        </p:spPr>
        <p:txBody>
          <a:bodyPr wrap="square">
            <a:spAutoFit/>
          </a:bodyPr>
          <a:lstStyle/>
          <a:p>
            <a:pPr>
              <a:defRPr sz="2200" b="1">
                <a:solidFill>
                  <a:srgbClr val="0F172A"/>
                </a:solidFill>
                <a:latin typeface="Helvetica"/>
              </a:defRPr>
            </a:pPr>
            <a:r>
              <a:t>AI Explainability: Plain-English Reports for SOC Analysts</a:t>
            </a:r>
          </a:p>
        </p:txBody>
      </p:sp>
      <p:sp>
        <p:nvSpPr>
          <p:cNvPr id="4" name="TextBox 3"/>
          <p:cNvSpPr txBox="1"/>
          <p:nvPr/>
        </p:nvSpPr>
        <p:spPr>
          <a:xfrm>
            <a:off x="731520" y="1234440"/>
            <a:ext cx="10728655" cy="320040"/>
          </a:xfrm>
          <a:prstGeom prst="rect">
            <a:avLst/>
          </a:prstGeom>
          <a:noFill/>
        </p:spPr>
        <p:txBody>
          <a:bodyPr wrap="square">
            <a:spAutoFit/>
          </a:bodyPr>
          <a:lstStyle/>
          <a:p>
            <a:pPr>
              <a:defRPr sz="1100">
                <a:solidFill>
                  <a:srgbClr val="64748B"/>
                </a:solidFill>
                <a:latin typeface="Helvetica"/>
              </a:defRPr>
            </a:pPr>
            <a:r>
              <a:t>Translating mathematical anomaly scores into clear, human-readable triage summaries in seconds</a:t>
            </a:r>
          </a:p>
        </p:txBody>
      </p:sp>
      <p:sp>
        <p:nvSpPr>
          <p:cNvPr id="5" name="Rounded Rectangle 4"/>
          <p:cNvSpPr/>
          <p:nvPr/>
        </p:nvSpPr>
        <p:spPr>
          <a:xfrm>
            <a:off x="731520" y="1691640"/>
            <a:ext cx="10728655"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lIns="182880" tIns="109728"/>
          <a:lstStyle/>
          <a:p>
            <a:pPr algn="l">
              <a:defRPr sz="1150" b="1">
                <a:solidFill>
                  <a:srgbClr val="0F172A"/>
                </a:solidFill>
                <a:latin typeface="Helvetica"/>
              </a:defRPr>
            </a:pPr>
            <a:r>
              <a:t>Why Pairing Anomaly Detection with an LLM Solves the SOC Alert Crisis</a:t>
            </a:r>
          </a:p>
          <a:p>
            <a:pPr algn="l">
              <a:spcBef>
                <a:spcPts val="300"/>
              </a:spcBef>
              <a:defRPr sz="950">
                <a:solidFill>
                  <a:srgbClr val="334155"/>
                </a:solidFill>
                <a:latin typeface="Helvetica"/>
              </a:defRPr>
            </a:pPr>
            <a:r>
              <a:t>Traditional ML anomaly models output cryptic mathematical numbers (e.g., 'Score: 0.85, Entropy: 4.8'). Junior SOC analysts cannot easily tell if this is a real hacker or a routine script. Our LLM layer automatically reviews the anomaly features and command history to write a clear, accurate 1-paragraph summary.</a:t>
            </a:r>
          </a:p>
        </p:txBody>
      </p:sp>
      <p:sp>
        <p:nvSpPr>
          <p:cNvPr id="6" name="Rounded Rectangle 5"/>
          <p:cNvSpPr/>
          <p:nvPr/>
        </p:nvSpPr>
        <p:spPr>
          <a:xfrm>
            <a:off x="731520" y="2926080"/>
            <a:ext cx="5212080" cy="3200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lIns="182880" tIns="137160"/>
          <a:lstStyle/>
          <a:p>
            <a:pPr algn="l">
              <a:defRPr sz="1100" b="1">
                <a:solidFill>
                  <a:srgbClr val="1E3A8A"/>
                </a:solidFill>
                <a:latin typeface="Helvetica"/>
              </a:defRPr>
            </a:pPr>
            <a:r>
              <a:t>What the Machine Detects (Raw Anomaly Data)</a:t>
            </a:r>
          </a:p>
          <a:p>
            <a:pPr algn="l">
              <a:spcBef>
                <a:spcPts val="400"/>
              </a:spcBef>
              <a:defRPr sz="900" b="1">
                <a:solidFill>
                  <a:srgbClr val="0F172A"/>
                </a:solidFill>
                <a:latin typeface="Helvetica"/>
              </a:defRPr>
            </a:pPr>
            <a:r>
              <a:t>• Flagged Process: </a:t>
            </a:r>
            <a:r>
              <a:rPr b="0">
                <a:solidFill>
                  <a:srgbClr val="334155"/>
                </a:solidFill>
              </a:rPr>
              <a:t>find (Parent: sudo, User ID: 0 root)</a:t>
            </a:r>
          </a:p>
          <a:p>
            <a:pPr algn="l">
              <a:spcBef>
                <a:spcPts val="400"/>
              </a:spcBef>
              <a:defRPr sz="900" b="1">
                <a:solidFill>
                  <a:srgbClr val="0F172A"/>
                </a:solidFill>
                <a:latin typeface="Helvetica"/>
              </a:defRPr>
            </a:pPr>
            <a:r>
              <a:t>• Command Line: </a:t>
            </a:r>
            <a:r>
              <a:rPr b="0">
                <a:solidFill>
                  <a:srgbClr val="334155"/>
                </a:solidFill>
              </a:rPr>
              <a:t>sudo find . -exec /bin/sh -c 'id; echo [Tier1] find exec' \; -quit</a:t>
            </a:r>
          </a:p>
          <a:p>
            <a:pPr algn="l">
              <a:spcBef>
                <a:spcPts val="400"/>
              </a:spcBef>
              <a:defRPr sz="900" b="1">
                <a:solidFill>
                  <a:srgbClr val="0F172A"/>
                </a:solidFill>
                <a:latin typeface="Helvetica"/>
              </a:defRPr>
            </a:pPr>
            <a:r>
              <a:t>• Anomaly Score: </a:t>
            </a:r>
            <a:r>
              <a:rPr b="0">
                <a:solidFill>
                  <a:srgbClr val="334155"/>
                </a:solidFill>
              </a:rPr>
              <a:t>0.8503 (High Outlier, Threshold = 0.50)</a:t>
            </a:r>
          </a:p>
          <a:p>
            <a:pPr algn="l">
              <a:spcBef>
                <a:spcPts val="400"/>
              </a:spcBef>
              <a:defRPr sz="900" b="1">
                <a:solidFill>
                  <a:srgbClr val="0F172A"/>
                </a:solidFill>
                <a:latin typeface="Helvetica"/>
              </a:defRPr>
            </a:pPr>
            <a:r>
              <a:t>• Sequence Context: </a:t>
            </a:r>
            <a:r>
              <a:rPr b="0">
                <a:solidFill>
                  <a:srgbClr val="334155"/>
                </a:solidFill>
              </a:rPr>
              <a:t>Elevated randomness; shell invocation token detected</a:t>
            </a:r>
          </a:p>
          <a:p>
            <a:pPr algn="l">
              <a:spcBef>
                <a:spcPts val="400"/>
              </a:spcBef>
              <a:defRPr sz="900" b="1">
                <a:solidFill>
                  <a:srgbClr val="0F172A"/>
                </a:solidFill>
                <a:latin typeface="Helvetica"/>
              </a:defRPr>
            </a:pPr>
            <a:r>
              <a:t>• Lineage Rarity: </a:t>
            </a:r>
            <a:r>
              <a:rPr b="0">
                <a:solidFill>
                  <a:srgbClr val="334155"/>
                </a:solidFill>
              </a:rPr>
              <a:t>Rare parent-child pairing (sudo executing find with exec)</a:t>
            </a:r>
          </a:p>
        </p:txBody>
      </p:sp>
      <p:sp>
        <p:nvSpPr>
          <p:cNvPr id="7" name="Rounded Rectangle 6"/>
          <p:cNvSpPr/>
          <p:nvPr/>
        </p:nvSpPr>
        <p:spPr>
          <a:xfrm>
            <a:off x="6217920" y="2926080"/>
            <a:ext cx="5242255" cy="3200400"/>
          </a:xfrm>
          <a:prstGeom prst="roundRect">
            <a:avLst/>
          </a:prstGeom>
          <a:solidFill>
            <a:srgbClr val="FFFFFF"/>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t" lIns="182880" tIns="137160"/>
          <a:lstStyle/>
          <a:p>
            <a:pPr algn="l">
              <a:defRPr sz="1100" b="1">
                <a:solidFill>
                  <a:srgbClr val="15803D"/>
                </a:solidFill>
                <a:latin typeface="Helvetica"/>
              </a:defRPr>
            </a:pPr>
            <a:r>
              <a:t>What the Analyst Sees (Plain-English SOC Verdict)</a:t>
            </a:r>
          </a:p>
          <a:p>
            <a:pPr algn="l">
              <a:spcBef>
                <a:spcPts val="300"/>
              </a:spcBef>
              <a:defRPr sz="850" b="1">
                <a:solidFill>
                  <a:srgbClr val="2563EB"/>
                </a:solidFill>
                <a:latin typeface="Helvetica"/>
              </a:defRPr>
            </a:pPr>
            <a:r>
              <a:t>VERDICT: </a:t>
            </a:r>
            <a:r>
              <a:rPr b="0">
                <a:solidFill>
                  <a:srgbClr val="0F172A"/>
                </a:solidFill>
              </a:rPr>
              <a:t>Malicious — Privilege Escalation / GTFOBin Abuse</a:t>
            </a:r>
          </a:p>
          <a:p>
            <a:pPr algn="l">
              <a:spcBef>
                <a:spcPts val="300"/>
              </a:spcBef>
              <a:defRPr sz="850" b="1">
                <a:solidFill>
                  <a:srgbClr val="2563EB"/>
                </a:solidFill>
                <a:latin typeface="Helvetica"/>
              </a:defRPr>
            </a:pPr>
            <a:r>
              <a:t>ATTRIBUTED TECHNIQUE: </a:t>
            </a:r>
            <a:r>
              <a:rPr b="0">
                <a:solidFill>
                  <a:srgbClr val="0F172A"/>
                </a:solidFill>
              </a:rPr>
              <a:t>Abuse Elevation Control Mechanism: Sudo (find -exec)</a:t>
            </a:r>
          </a:p>
          <a:p>
            <a:pPr algn="l">
              <a:spcBef>
                <a:spcPts val="300"/>
              </a:spcBef>
              <a:defRPr sz="850" b="1">
                <a:solidFill>
                  <a:srgbClr val="2563EB"/>
                </a:solidFill>
                <a:latin typeface="Helvetica"/>
              </a:defRPr>
            </a:pPr>
            <a:r>
              <a:t>MITRE ATT&amp;CK ID: </a:t>
            </a:r>
            <a:r>
              <a:rPr b="0">
                <a:solidFill>
                  <a:srgbClr val="0F172A"/>
                </a:solidFill>
              </a:rPr>
              <a:t>T1548.003 (Privilege Escalation via Sudo)</a:t>
            </a:r>
          </a:p>
          <a:p>
            <a:pPr algn="l">
              <a:spcBef>
                <a:spcPts val="300"/>
              </a:spcBef>
              <a:defRPr sz="850" b="1">
                <a:solidFill>
                  <a:srgbClr val="2563EB"/>
                </a:solidFill>
                <a:latin typeface="Helvetica"/>
              </a:defRPr>
            </a:pPr>
            <a:r>
              <a:t>CONFIDENCE SCORE: </a:t>
            </a:r>
            <a:r>
              <a:rPr b="0">
                <a:solidFill>
                  <a:srgbClr val="0F172A"/>
                </a:solidFill>
              </a:rPr>
              <a:t>95% (High Confidence)</a:t>
            </a:r>
          </a:p>
          <a:p>
            <a:pPr algn="l">
              <a:spcBef>
                <a:spcPts val="300"/>
              </a:spcBef>
              <a:defRPr sz="850" b="1">
                <a:solidFill>
                  <a:srgbClr val="2563EB"/>
                </a:solidFill>
                <a:latin typeface="Helvetica"/>
              </a:defRPr>
            </a:pPr>
            <a:r>
              <a:t>EXPLANATION: </a:t>
            </a:r>
            <a:r>
              <a:rPr b="0">
                <a:solidFill>
                  <a:srgbClr val="0F172A"/>
                </a:solidFill>
              </a:rPr>
              <a:t>"The user executed the 'find' utility with root privileges via sudo and invoked an interactive subshell using the '-exec' flag. This is a classic GTFOBin privilege escalation technique used to break out of restricted shells and obtain root access. Recommended action: Immediately revoke sudo privileges for this user and isolate the host."</a:t>
            </a:r>
          </a:p>
        </p:txBody>
      </p:sp>
      <p:sp>
        <p:nvSpPr>
          <p:cNvPr id="8" name="Rectangle 7"/>
          <p:cNvSpPr/>
          <p:nvPr/>
        </p:nvSpPr>
        <p:spPr>
          <a:xfrm>
            <a:off x="0" y="0"/>
            <a:ext cx="12191695"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46520"/>
            <a:ext cx="8229600" cy="320040"/>
          </a:xfrm>
          <a:prstGeom prst="rect">
            <a:avLst/>
          </a:prstGeom>
          <a:noFill/>
        </p:spPr>
        <p:txBody>
          <a:bodyPr wrap="square">
            <a:spAutoFit/>
          </a:bodyPr>
          <a:lstStyle/>
          <a:p>
            <a:pPr>
              <a:defRPr sz="900">
                <a:solidFill>
                  <a:srgbClr val="64748B"/>
                </a:solidFill>
                <a:latin typeface="Helvetica"/>
              </a:defRPr>
            </a:pPr>
            <a:r>
              <a:t>AI-Assisted Detection of LOLBin-Based Privilege Escalation | NFSU M.Tech Cyber Security</a:t>
            </a:r>
          </a:p>
        </p:txBody>
      </p:sp>
      <p:sp>
        <p:nvSpPr>
          <p:cNvPr id="11" name="TextBox 10"/>
          <p:cNvSpPr txBox="1"/>
          <p:nvPr/>
        </p:nvSpPr>
        <p:spPr>
          <a:xfrm>
            <a:off x="9601200" y="6446520"/>
            <a:ext cx="1828800" cy="320040"/>
          </a:xfrm>
          <a:prstGeom prst="rect">
            <a:avLst/>
          </a:prstGeom>
          <a:noFill/>
        </p:spPr>
        <p:txBody>
          <a:bodyPr wrap="none">
            <a:spAutoFit/>
          </a:bodyPr>
          <a:lstStyle/>
          <a:p>
            <a:pPr algn="r">
              <a:defRPr sz="900" b="1">
                <a:solidFill>
                  <a:srgbClr val="64748B"/>
                </a:solidFill>
                <a:latin typeface="Helvetica"/>
              </a:defRPr>
            </a:pPr>
            <a:r>
              <a:t>Slide 8 of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